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657846a8-4904-2a46-a7da-6ea10bc23271}">
          <p14:sldIdLst>
            <p14:sldId id="256"/>
            <p14:sldId id="257"/>
          </p14:sldIdLst>
        </p14:section>
        <p14:section name="Background" id="{5b09cb36-4843-8b1a-13bf-78e989099a11}">
          <p14:sldIdLst>
            <p14:sldId id="258"/>
            <p14:sldId id="259"/>
            <p14:sldId id="260"/>
            <p14:sldId id="261"/>
            <p14:sldId id="262"/>
          </p14:sldIdLst>
        </p14:section>
        <p14:section name="The idea" id="{432e5ed6-ecf6-20a8-9dfc-5f16f8720b06}">
          <p14:sldIdLst>
            <p14:sldId id="263"/>
            <p14:sldId id="264"/>
            <p14:sldId id="265"/>
            <p14:sldId id="266"/>
            <p14:sldId id="267"/>
          </p14:sldIdLst>
        </p14:section>
        <p14:section name="Labels" id="{88a3238e-e256-2612-b7df-3d67bdbb628e}">
          <p14:sldIdLst>
            <p14:sldId id="268"/>
            <p14:sldId id="269"/>
            <p14:sldId id="270"/>
            <p14:sldId id="271"/>
            <p14:sldId id="272"/>
            <p14:sldId id="273"/>
            <p14:sldId id="274"/>
          </p14:sldIdLst>
        </p14:section>
        <p14:section name="Inside the module" id="{613ac19f-44a3-c08b-1d7e-1037748d57b0}">
          <p14:sldIdLst>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Lst>
        </p14:section>
        <p14:section name="Commutation checker" id="{c94e9dee-2463-59ba-6415-f4b169f16a4c}">
          <p14:sldIdLst>
            <p14:sldId id="297"/>
            <p14:sldId id="298"/>
            <p14:sldId id="299"/>
            <p14:sldId id="300"/>
            <p14:sldId id="301"/>
            <p14:sldId id="302"/>
            <p14:sldId id="303"/>
          </p14:sldIdLst>
        </p14:section>
        <p14:section name="Wrap-up" id="{270e06d6-508d-d5cb-0d28-514ee66772ac}">
          <p14:sldIdLst>
            <p14:sldId id="304"/>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deck explains one transpiler pass, _AbsorbIntoSwaps, and the small CommutationChecker repair it relies on. No prior Qiskit knowledge is assumed: the first section explains circuits, SWAPs, the transpiler pipeline and commutation in plain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Readers who already know Qiskit can skip the background section. Every class, function, record and constant in the module gets its own description in part three; the planner is traced stage by stage on one running example whose values were produced by running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slides of background. Each one introduces exactly the vocabulary the later slides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Each horizontal line is a qubit. Boxes are one-qubit gates. Two-qubit gates connect two wires. The SWAP symbol exchanges the states of its two wires. The pass we study only ever touches two-qubit gates and SWAPs on the same pair of wires.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devices only allow two-qubit gates between physically connected qubits. The routing stage inserts SWAPs to bring interacting qubits next to each other. Each SWAP costs three CX gates, so routed circuits are dominated by SWAP cost. The pass tries to make some of those SWAPs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transpiler runs a sequence of passes. Each pass is a function from DAGCircuit to DAGCircuit. The absorption pass is prepended to the translation stage at optimization levels 2 and 3 by generate_translation_passmanager in common.py. Both built-in translation plugins, translator and synthesis, go through that helper.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gates commute when applying them in either order gives the same operation. Only then may one be moved past the other. RZ and CP commute: both act as diagonal phases on the shared wire. RY and CP do not. The pass never calls a general commutation routine per pair; it uses one letter per wire, explained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adjacency pays, a worked example, and the rules every move obeys.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SWAP decomposes into three CX gates. If a CX on the same pair immediately follows, two equal CX gates meet and cancel, leaving two. The same kind of saving appears for other two-qubit gates once the SWAP and its neighbour are synthesized together as one block. The idea comes from Liu, Li and Zhou, arXiv:2205.10596, and from the 2QAN compiler, arXiv:2108.02099.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this checkout: the pass moves CP next to the SWAP, pulling it left past RZ. Operator equality holds to 1e-12 without allowing a global-phase difference. The gate counts are unchanged; the benefit appears when the later synthesis merges SWAP and 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one: only cross gates whose letter on the shared wire matches the candidate's letter. Rule two: a wall, that is a mismatched letter or a gate with no letter, stops the move. Rule three: a candidate never crosses the SWAP; it ends on the side it started from. This matters for asymmetric gates such as CRZ, which do not commute with a SWAP on their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boundaries keep the pass simple and exactly correct. The conservative cases are rejections of moves that would be legal mathematically but are not covered by the per-wire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function tour, the model everything rests on: each supported gate receives one letter per qubit, and letters are compared instead of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Y and Z are the three Pauli operators. A gate gets letter Z on a wire when it commutes with Z on that wire, which is the case for every gate diagonal in the computational basis. CX commutes with Z on its control and X on its target, hence ZX. A dash means no usable rule. The letters are a certificate for moving; no gate is ever replaced by a Pauli.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is simple linear algebra and needs no numerics. Two gates that each commute with the same Pauli on a shared wire are both block diagonal in that Pauli's eigenbasis. Fix the eigenvalue on every shared wire and the remaining actions live on disjoint private qubits, which always commute. So the gates commute exactly, global phase included. The rule is sufficient, not necessary: it misses some commuting pairs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allowlist _SUPPORTED_GATES holds exactly these 27 standard-gate names: 14 one-qubit and 13 two-qubit. The table doubles as the finite specification checked by test_standard_wire_labels. Two more forms get ZZ without being in the list: an exactly diagonal two-qubit UnitaryGate, and the CX-D-CX pattern recognised by _group_nodes in the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_wire_paulis(node, cache) is the classification boundary. It returns a string of length len(node.qargs). Standard gates go through the allowlist and the per-run cache before _standard_wire_paulis runs any lookup. The only non-standard operation it understands is an exactly diagonal two-qubit UnitaryGate. Everything else, including H, measure, barrier, reset, control flow and custom gates, gets dashes. The cache dictionary is created inside _group_nodes, so it lives for exactly one run of the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_standard_wire_paulis(op, width) assumes the caller already verified standard identity and allowlist membership. It picks a representative from _LOOKUP_REPRESENTATIVES, falling back to the gate itself, then asks the session checker three questions per wire, one per entry of _PAULI_PROBES. A wire gets a letter only when exactly one probe answers True. The raw table has no CP entry, which is why CZ stands in: CP(θ) is a function of CZ, so anything commuting with CZ commutes with 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_group_nodes, stage 2 of the planner, recognises CX(a,b); D(b); CX(a,b) with D a Z-letter one-qubit gate. Conjugating Z on the target by CX gives Z tensor Z, so the block is a function of ZZ: a diagonal two-qubit gate such as RZZ. The three original nodes share one unit id, carry the letters ZZ, and are moved together. Nothing is replaced by an RZZ gate. The running example in part 3b contains exactly such a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of the module first, then the entry point, the planner's four stages traced on one running example (a diagram slide and a code slide for each), the rewrite, and the records and helper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checks for a swap, plans with _find_moves, then rewrites with _apply_moves. _find_moves is now a thin pipeline: _index_nodes, _group_nodes, _index_unit_wires and _select_moves each return a frozen record that the next stage reads. _group_nodes classifies nodes through _wire_paulis and _standard_wire_paulis, which is the only place that talks to the commutation checker. The constants feed the classification. The nested helpers moved into the stage that needs them. _Members is the compact view of units that _apply_moves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derives from TransformationPass, so the pass manager calls run with the DAG. The count_ops check is only a fast exit by name; genuine SWAP detection later also requires is_standard_gate. _find_moves builds the complete plan without touching the DAG; _apply_moves runs only if the plan is non-empty.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_find_moves(dag) is fourteen lines. It lists the DAG's operations in topological order, numbers the qubits, and calls the four stage functions in turn: _index_nodes returns a _NodeIndex, _group_nodes a _UnitIndex, _index_unit_wires a _WireIndex, and _select_moves the list of moves. Each record is a frozen dataclass with slots, so a later stage can only read what an earlier one built. Finally it wraps the pieces _apply_moves needs into a _Members view and returns (order, members, moves). The step in each move records on which side of the SWAP the candidate was found: +1 after, −1 before. It is the search direction, not a travel direction. The next slide introduces the running example on which every stage is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small circuit is traced through all four stages. Three qubits; seven operations in topological order: a SWAP on q0 and q1, an RZ on q0, a CX-RZ-CX block on (q0, q1), then CX(q1, q2) and CX(q0, q2). Node numbers are indices into order. The CX-RZ-CX block will become one ZZ unit; the two trailing CX gates keep both of the SWAP's wires busy so the scheduling guard lets the SWAP through. The pass finds exactly one move, (2, 0, +1): unit 2 is found after SWAP unit 0 and is placed right after it. The AFTER circuit was produced by running the pass on this checkout; the operators of the two circuits are equal. Every array printed on the following slides was produced by calling the stage functions on this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walks the topological order once and records where every node sits. The output is a _NodeIndex with seven fields. wires lists, per qubit, the node indices on that wire in order; a node's position on a wire is its index in that list, which is not its index in order. For one- and two-qubit nodes the first_qubit, second_qubit, first_position and second_position arrays hold the qubits and those positions; entries that do not apply stay −1. widths holds the number of qubits of every node. last_multi records, per wire, the position of the last node with two or more qubits, which the scheduling guard reads in stage 4. In the running example node 2, the first CX, is at position 2 on q0 and position 1 on q1; node 6 is the last multi-qubit node on both q0 and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shown is the function body with the five array initialisations elided. Note that positions are assigned before the append, so the first node on a wire has position 0. The else branch handles widths 0 and 3 or more: such nodes still occupy their wires, which is what makes a barrier a wall, and still count as multi-qubit work for last_multi when they touch more than one qubit. A measurement has one qubit and one clbit; its qargs has length 1, so it takes the width-1 branch and gets a position, but _wire_paulis later gives it '-'. Nothing here looks at gate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turns nodes into units. Every node becomes its own unit except a recognised CX-D-CX triple, which becomes one unit of three nodes. Units are numbered densely in the topological order of their first nodes. The _UnitIndex record holds node_to_unit (node → unit), first_node (unit → first node), groups (members, only for the three-node units), labels (the letters of the unit in the qubit order of its first node), pair_keys and swaps. In the running example _wire_paulis gives '--' to the swap, 'Z' to each rz and 'ZX' to each cx. Node 2 passes the CX-D-CX test with nodes 3 and 4, so units are [0], [1], [2, 3, 4], [5], [6]; the group gets labels ZZ. The pair key of a two-qubit unit encodes its unordered qubit pair as min·num_wires + max: 1 for (0, 1), 2 for (0, 2), 5 for (1, 2). One-qubit units get −2 and anything else −1; these two constants are _SINGLE_QUBIT_UNIT and _OTHER_UNIT. swaps = [0] lists the only genuine standard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 is shown reformatted on fewer lines; it is otherwise the source. Two initialisation lines are elided. Note the asymmetry of the test: the middle node is looked for on the target wire only, because D acts on the target. The letters of a unit follow the qubit order of its first node: cx(0, 1) is ZX with Z on q0. A cx(1, 0) would be ZX with Z on q1, and that is what stage 3 uses when it splits the letters per wire. The cache is a plain dict created here, so it lives exactly one run of the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re-reads every wire in terms of units and prepares the data for constant-time commutation checks. For each qubit, sequences holds the unit ids along the wire with consecutive repeats merged: on q0 the node list [0, 1, 2, 4, 6] maps to units [0, 1, 2, 2, 4], so unit 2 occupies a single position. labels holds the letter each unit carries on this particular wire: a two-qubit unit contributes its first letter on the wire of its first qubit and its second letter on the other wire, so cx(0, 2), which is ZX, contributes Z on q0 and X on q2. run_starts records for every position where the current run of equal letters began; on q0 the letters are '-', Z, Z, Z and the run starts are 0, 1, 1, 1. The per-unit first_position and second_position arrays give a unit's position on the wire of its first and second qubit; stage 4 reads them through position_on_wire.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initialisation lines are elided. The important subtlety is which letter a unit contributes: the unit's letters are stored in the qubit order of its first node, so the first letter belongs to the wire of first_qubit[head]. For the group unit this is the control of the first cx. A wider unit such as a barrier has letters '---' and contributes '-' on every wire; an empty label (a zero-qubit operation) also becomes '-'. The SWAP itself has '--' and so contributes '-' on both wires: it is a wall for every other SWAP's search, which is one of the ways 'never across a SWAP' is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_select_moves has three phases, 4a, 4b and 4c. Phase 4a runs over every SWAP unit before any move is chosen. For each SWAP it looks at the positions just before and just after it on both wires. A neighbour counts as touching when it has the SWAP's pair key and sits at distance one on both wires: same-pair adjacency on only one wire is not adjacency, because synthesis cannot merge the two through a gate that sits between them on the other wire. Touching units are put into the set taken, and the SWAP is finished: it already has a partner. A SWAP with no touching unit goes to the list pending. Letters play no role here; any same-pair neighbour is reserved, even one the pass could never move. In the running example the only same-pair unit, u2, is adjacent to the SWAP on q1 but two positions away on q0, so pending = [u0].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helper functions that the walk uses are elided here and shown on their own slides. Observe that the same unit can appear in touching twice, once from each wire; taken is a set, so that is harmless. A SWAP whose partner is reserved never gets a second partner in this run: at most one new neighbour per SWAP is a design rule, and existing neighbours count. The loop uses merged unit positions from _WireIndex, so the three nodes of a CX·D·CX group count as one neighbour at one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4b is one condition at the top of the loop over pending SWAPs. head is the SWAP's node; the guard compares last_multi of each of its wires with the SWAP's node position on that wire. If either wire has no multi-qubit node after the SWAP, continue: no search happens for this SWAP. The reason is profit rather than correctness. Once synthesis merges a SWAP with its partner into one block, the block ends with single-qubit gates on both wires. If one wire is idle from there to the end of the circuit, an as-late-as-possible schedule pushes those single-qubit gates to the end and stretches the idle time. Barriers count as multi-qubit work because they fence the schedule; a measurement does not. In the running example last_multi is [4, 4, 1] and the SWAP sits at node position 0 on both wires, so it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4c looks for one new partner per pending SWAP. Only the SWAP's first-qubit wire is walked; the second wire is consulted by the checks. With step = +1 the index starts right after the SWAP and advances while the unit there belongs to another pair and its letter is not '-': such units are candidates for crossing, not for moving. The walk stops at the first same-pair unit, at the first wall, or when it runs off the wire. In the running example the walk on q0 passes u1 (rz, pair key −2, letter Z) and stops at u2, whose pair key equals the SWAP's. The stopping unit is accepted only if all five checks hold: same pair key, not in taken, commutes_between on q0, commutes_between on q1, and not splits_same_pair_run. All five pass with the values shown, so the move (2, 0, +1) is recorded, u2 is added to taken, and the break ends the search for this SWAP without trying step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the verbatim remainder of _select_moves. Two properties follow directly from it. Determinism: pending SWAPs are visited in topological order, the later side is tried first, and the walk stops at the first same-pair unit, so the plan depends only on the circuit. One partner per SWAP: break ends the search after the first accepted unit. The walk reads only the first wire's labels, which is safe because commutes_between is then evaluated on both wires: a wall on wire b that the walk never saw still rejects the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SWAP that survives the guard can still end with no partner. Here the walk with step +1 passes RZ and RX, both of other pairs with letters that are not '-', and stops at CP. CP has the right pair key, but RX carries letter X while CP carries Z on wire a, so commutes_between fails and CP is rejected on the spot. The walk does not look further in that direction, even though CZ later on would also be a same-pair unit. Step −1 then stops at H, whose letter is '-': it is not a same-pair unit, so the first check fails. This SWAP gets no partner in this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commutes_between(qubit, unit, swap) answers, for one wire, whether the candidate may cross everything strictly between itself and the SWAP. It takes the two merged positions from position_on_wire, orders them, and reads the candidate's letter on that wire; a '-' refuses at once. If the two are adjacent the interval is empty and the answer is True. Otherwise only the position next to the SWAP on the candidate's side, high − 1, is inspected: its letter must equal the candidate's, and the run of equal letters containing it must have started no later than low + 1, the first position inside the interval. Then every unit strictly between them carries the candidate's letter. The SWAP's own position is never part of the interval, which is how a candidate can approach a SWAP without having to commute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splits_same_pair_run(unit, step, qubit_a, qubit_b) is the last check. It looks outward from the candidate, away from the SWAP, on both of its wires, skipping one-qubit units, and returns True when the next unit on both wires is the same unit and that unit has the candidate's pair key. Then the candidate already belongs to a run of two-qubit work on its pair, separated only by one-qubit gates, which the later synthesis can already merge into one block; pulling it to the SWAP would trade one mergeable neighbour for another and split that block. In the example the walk stops at the first CP and every letter check passes, yet the pass refuses the move and leaves the circuit unchanged. Without the second CP the same circuit yields the move. Wider units stop the look-ahead, because they are not skipped and have a different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_apply_moves(dag, order, units, moves) first removes every member node of every chosen unit, then for each move builds a two-qubit DAGCircuit with fresh Qubit objects, maps the SWAP's ordered qargs onto them, appends SWAP then members for step +1 or members then SWAP for step −1, and substitutes that block for the SWAP node. Removing everything first makes overlapping stretches safe. For the running example the block is swap, cx, rz, cx on the SWAP's two wires, and the three removed nodes reappear inside it in their original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records are frozen dataclasses with slots. Each stage returns one and later stages can only read it, so the data flow is visible in the signatures. The field names say what an index means: entries of _NodeIndex are per node, entries of _UnitIndex per unit, and _WireIndex holds per-wire lists of units. The two kinds of first/second position are easy to confuse: _NodeIndex positions count nodes on a wire, _WireIndex positions count merged units on a wire. The scheduling guard uses the former, every other check in stage 4 the latter.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_Members is a tiny view object with __slots__ that lets _apply_moves translate a unit id into its node indices and qubit set without storing a full tuple per unit; _find_moves builds it from fields of the records. The nested helpers now live in the stage that uses them: qubits_for_node in _find_moves, next_on_wire in _group_nodes, and position_on_wire, commutes_between and splits_same_pair_run in _select_moves.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checker is, what was broken, what the repair looks like, and the contract the swap pass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CommutationChecker is Qiskit's general oracle for 'do these two operations commute?'. Its Python class wraps a Rust object that owns a generated table of standard-gate relations. The general commute() path combines table lookups with rotation normalization and matrix comparison under a tolerance. The swap pass needs none of that: it only needs to read the table. That read path is check_commutation_entries, and it was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method already existed but forwarded to self.cc.library, an attribute the Rust object never exposed, so every call raised AttributeError. Commit c81cf602c adds a #[pymethods] binding named check_commutation_entries on the Rust CommutationChecker and makes the Python wrapper call it with tuple qargs. Name and positional arguments are unchanged; the docstring now spells out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binding returns PyResult&lt;Option&lt;bool&gt;&gt;, which Python sees as True, False, None or an exception. It validates widths, converts both qubit tuples through one shared registry so shared labels become shared qubits, rejects duplicates inside one operation, returns None for disjoint placements, orders the two operations by (num_qubits, len(name), name) carrying their qargs along, computes the relative placement and calls the existing CommutationLibrary lookup. Nothing else is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and two exceptions. True and False report what the configured table stores for these names and this placement. None means no applicable entry, an empty table, or disjoint placements. QiskitError is raised for a wrong number of qubits or a duplicate qubit inside one operation. The examples were run on this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commute() is the right tool for general optimization passes, but the swap pass needs parameter-independent certificates. The general path normalizes rotations and accepts near-identity rotations before the matrix-size limit applies, and its tolerance has a floor of 1e-12. A tiny RY must block a Z candidate; only the raw table gives that answer. Two constraints decided the design: the exported Python StandardGateCommutations dictionary lacks the crx and crz probe entries this pass needs, and a table lookup is a certificate only for the finite, mathematically justified families on the allowlist.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commit touched six files. The Rust standard table and the exported Python dictionary were not modified; the repaired binding simply exposes the existing table. Tests pin the 27 labels as a finite specification, exercise exactness with operator comparisons, and check that unsupported gates never reach the lookup. A later commit, ab28929ff, refactored _swap_absorption.py for readability only: the planner became four stage functions handing over three frozen records, with descriptive names in place of the old q0/p0/ukey arrays. The 43 tests of test_swap_absorption pass unchanged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pass, one small repair. The pass moves a two-qubit gate next to a SWAP on the same pair, using per-wire Pauli letters derived from the checker's table. The checker repair makes the raw table readable from Python again. Both are conservative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Point people to the module and to the two test files; the implementation guide in design/ carries the same material in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3D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716975" cy="13716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383280"/>
            <a:ext cx="8716975" cy="16459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3D4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94415" cy="731520"/>
          </a:xfrm>
          <a:prstGeom prst="rect">
            <a:avLst/>
          </a:prstGeom>
          <a:noFill/>
          <a:ln/>
        </p:spPr>
        <p:txBody>
          <a:bodyPr wrap="square" rtlCol="0"/>
          <a:lstStyle>
            <a:lvl1pPr algn="l" indent="0" marL="0">
              <a:buNone/>
              <a:defRPr lang="en-US" sz="2200" b="1" dirty="0">
                <a:solidFill>
                  <a:schemeClr val="accent2"/>
                </a:solidFill>
              </a:defRPr>
            </a:lvl1pPr>
          </a:lstStyle>
          <a:p>
            <a:pPr algn="l" indent="0" marL="0">
              <a:buNone/>
            </a:pPr>
            <a:endParaRPr lang="en-US" sz="2200" dirty="0"/>
          </a:p>
        </p:txBody>
      </p:sp>
      <p:sp>
        <p:nvSpPr>
          <p:cNvPr id="3" name="Text 0"/>
          <p:cNvSpPr/>
          <p:nvPr>
            <p:ph idx="101" type="title" hasCustomPrompt="1"/>
          </p:nvPr>
        </p:nvSpPr>
        <p:spPr>
          <a:xfrm>
            <a:off x="548640" y="2560320"/>
            <a:ext cx="11094415" cy="128016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F3D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4415" cy="10058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1737360"/>
            <a:ext cx="11094415" cy="4206240"/>
          </a:xfrm>
          <a:prstGeom prst="rect">
            <a:avLst/>
          </a:prstGeom>
          <a:noFill/>
          <a:ln/>
        </p:spPr>
        <p:txBody>
          <a:bodyPr wrap="square" rtlCol="0"/>
          <a:lstStyle>
            <a:lvl1pPr algn="l" indent="0" marL="0">
              <a:buNone/>
              <a:defRPr lang="en-US" sz="1500" dirty="0">
                <a:solidFill>
                  <a:schemeClr val="bg1"/>
                </a:solidFill>
              </a:defRPr>
            </a:lvl1pPr>
          </a:lstStyle>
          <a:p>
            <a:pPr algn="l" indent="0" marL="0">
              <a:buNone/>
            </a:pPr>
            <a:endParaRPr lang="en-US" sz="15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548640" y="6419088"/>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Swap absorption  ·  qiskit/transpiler/preset_passmanagers/_swap_absorption.py  ·  qiskit/circuit/commutation_checker.py</a:t>
            </a:r>
            <a:endParaRPr lang="en-US" sz="10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5.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5.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5.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5.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5.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5.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5.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5.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5.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slideLayout" Target="../slideLayouts/slideLayout5.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5.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5.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slideLayout" Target="../slideLayouts/slideLayout5.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slideLayout" Target="../slideLayouts/slideLayout5.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slideLayout" Target="../slideLayouts/slideLayout5.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5.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716975" cy="1371600"/>
          </a:xfrm>
          <a:prstGeom prst="rect">
            <a:avLst/>
          </a:prstGeom>
          <a:noFill/>
          <a:ln/>
        </p:spPr>
        <p:txBody>
          <a:bodyPr wrap="square" lIns="0" tIns="0" rIns="0" bIns="0" rtlCol="0"/>
          <a:lstStyle/>
          <a:p>
            <a:pPr algn="l" indent="0" marL="0">
              <a:buNone/>
            </a:pPr>
            <a:r>
              <a:rPr lang="en-US" sz="4600" b="1" dirty="0">
                <a:solidFill>
                  <a:schemeClr val="bg1"/>
                </a:solidFill>
              </a:rPr>
              <a:t>Swap absorption</a:t>
            </a:r>
            <a:endParaRPr lang="en-US" sz="4600" dirty="0"/>
          </a:p>
        </p:txBody>
      </p:sp>
      <p:sp>
        <p:nvSpPr>
          <p:cNvPr id="3" name="Text 0"/>
          <p:cNvSpPr/>
          <p:nvPr>
            <p:ph idx="101" type="body" hasCustomPrompt="1"/>
          </p:nvPr>
        </p:nvSpPr>
        <p:spPr>
          <a:xfrm>
            <a:off x="548640" y="3383280"/>
            <a:ext cx="8716975" cy="1645920"/>
          </a:xfrm>
          <a:prstGeom prst="rect">
            <a:avLst/>
          </a:prstGeom>
          <a:noFill/>
          <a:ln/>
        </p:spPr>
        <p:txBody>
          <a:bodyPr wrap="square" lIns="0" tIns="0" rIns="0" bIns="0" rtlCol="0" anchor="t"/>
          <a:lstStyle/>
          <a:p>
            <a:pPr algn="l" indent="0" marL="0">
              <a:buNone/>
            </a:pPr>
            <a:r>
              <a:rPr lang="en-US" sz="2000" dirty="0">
                <a:solidFill>
                  <a:schemeClr val="bg2"/>
                </a:solidFill>
              </a:rPr>
              <a:t>How _swap_absorption.py moves two-qubit gates next to routing SWAPs, and what changed in the CommutationChecker</a:t>
            </a:r>
            <a:endParaRPr lang="en-US" sz="2000" dirty="0"/>
          </a:p>
          <a:p>
            <a:pPr algn="l" indent="0" marL="0">
              <a:buNone/>
            </a:pPr>
            <a:r>
              <a:rPr lang="en-US" sz="1500" dirty="0">
                <a:solidFill>
                  <a:schemeClr val="accent2"/>
                </a:solidFill>
              </a:rPr>
              <a:t>Qiskit transpiler  ·  written for readers who do not know Qiskit  ·  October 2026</a:t>
            </a:r>
            <a:endParaRPr lang="en-US" sz="2000" dirty="0"/>
          </a:p>
        </p:txBody>
      </p:sp>
      <p:sp>
        <p:nvSpPr>
          <p:cNvPr id="4" name="decorative circle"/>
          <p:cNvSpPr/>
          <p:nvPr/>
        </p:nvSpPr>
        <p:spPr>
          <a:xfrm>
            <a:off x="9418320" y="914400"/>
            <a:ext cx="2194560" cy="2194560"/>
          </a:xfrm>
          <a:prstGeom prst="ellipse">
            <a:avLst/>
          </a:prstGeom>
          <a:solidFill>
            <a:schemeClr val="accent1"/>
          </a:solidFill>
          <a:ln w="12700">
            <a:solidFill>
              <a:schemeClr val="accent1"/>
            </a:solidFill>
            <a:prstDash val="solid"/>
          </a:ln>
        </p:spPr>
      </p:sp>
      <p:sp>
        <p:nvSpPr>
          <p:cNvPr id="5" name="title badge"/>
          <p:cNvSpPr txBox="1"/>
          <p:nvPr/>
        </p:nvSpPr>
        <p:spPr>
          <a:xfrm>
            <a:off x="9418320" y="914400"/>
            <a:ext cx="2194560" cy="2194560"/>
          </a:xfrm>
          <a:prstGeom prst="rect">
            <a:avLst/>
          </a:prstGeom>
          <a:noFill/>
          <a:ln/>
        </p:spPr>
        <p:txBody>
          <a:bodyPr wrap="square" lIns="0" tIns="0" rIns="0" bIns="0" rtlCol="0" anchor="ctr"/>
          <a:lstStyle/>
          <a:p>
            <a:pPr algn="ctr" indent="0" marL="0">
              <a:buNone/>
            </a:pPr>
            <a:r>
              <a:rPr lang="en-US" sz="2600" b="1" dirty="0">
                <a:solidFill>
                  <a:schemeClr val="bg1"/>
                </a:solidFill>
              </a:rPr>
              <a:t>SWAP</a:t>
            </a:r>
            <a:endParaRPr lang="en-US" sz="2600" dirty="0"/>
          </a:p>
          <a:p>
            <a:pPr algn="ctr" indent="0" marL="0">
              <a:buNone/>
            </a:pPr>
            <a:r>
              <a:rPr lang="en-US" sz="2600" b="1" dirty="0">
                <a:solidFill>
                  <a:schemeClr val="bg1"/>
                </a:solidFill>
              </a:rPr>
              <a:t>+ CP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What this deck covers</a:t>
            </a:r>
            <a:endParaRPr lang="en-US" sz="3000" dirty="0"/>
          </a:p>
        </p:txBody>
      </p:sp>
      <p:sp>
        <p:nvSpPr>
          <p:cNvPr id="4" name="card Background"/>
          <p:cNvSpPr/>
          <p:nvPr/>
        </p:nvSpPr>
        <p:spPr>
          <a:xfrm>
            <a:off x="548640" y="1325880"/>
            <a:ext cx="2651760" cy="3291840"/>
          </a:xfrm>
          <a:prstGeom prst="roundRect">
            <a:avLst>
              <a:gd name="adj" fmla="val 4138"/>
            </a:avLst>
          </a:prstGeom>
          <a:solidFill>
            <a:schemeClr val="bg2"/>
          </a:solidFill>
          <a:ln w="12700">
            <a:solidFill>
              <a:schemeClr val="bg2"/>
            </a:solidFill>
            <a:prstDash val="solid"/>
          </a:ln>
        </p:spPr>
      </p:sp>
      <p:sp>
        <p:nvSpPr>
          <p:cNvPr id="5" name="badge 1"/>
          <p:cNvSpPr/>
          <p:nvPr/>
        </p:nvSpPr>
        <p:spPr>
          <a:xfrm>
            <a:off x="731520" y="1490472"/>
            <a:ext cx="384048" cy="384048"/>
          </a:xfrm>
          <a:prstGeom prst="ellipse">
            <a:avLst/>
          </a:prstGeom>
          <a:solidFill>
            <a:schemeClr val="accent1"/>
          </a:solidFill>
          <a:ln w="12700">
            <a:solidFill>
              <a:schemeClr val="accent1"/>
            </a:solidFill>
            <a:prstDash val="solid"/>
          </a:ln>
        </p:spPr>
      </p:sp>
      <p:sp>
        <p:nvSpPr>
          <p:cNvPr id="6" name="badge text 1"/>
          <p:cNvSpPr txBox="1"/>
          <p:nvPr/>
        </p:nvSpPr>
        <p:spPr>
          <a:xfrm>
            <a:off x="731520" y="1490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 title Background"/>
          <p:cNvSpPr txBox="1"/>
          <p:nvPr/>
        </p:nvSpPr>
        <p:spPr>
          <a:xfrm>
            <a:off x="1207008" y="1472184"/>
            <a:ext cx="1828800" cy="420624"/>
          </a:xfrm>
          <a:prstGeom prst="rect">
            <a:avLst/>
          </a:prstGeom>
          <a:noFill/>
          <a:ln/>
        </p:spPr>
        <p:txBody>
          <a:bodyPr wrap="square" lIns="0" tIns="0" rIns="0" bIns="0" rtlCol="0" anchor="ctr"/>
          <a:lstStyle/>
          <a:p>
            <a:pPr indent="0" marL="0">
              <a:buNone/>
            </a:pPr>
            <a:r>
              <a:rPr lang="en-US" sz="1600" b="1" dirty="0">
                <a:solidFill>
                  <a:schemeClr val="tx1"/>
                </a:solidFill>
              </a:rPr>
              <a:t>Background</a:t>
            </a:r>
            <a:endParaRPr lang="en-US" sz="1600" dirty="0"/>
          </a:p>
        </p:txBody>
      </p:sp>
      <p:sp>
        <p:nvSpPr>
          <p:cNvPr id="8" name="card body Background"/>
          <p:cNvSpPr txBox="1"/>
          <p:nvPr/>
        </p:nvSpPr>
        <p:spPr>
          <a:xfrm>
            <a:off x="749808" y="2011680"/>
            <a:ext cx="2249424" cy="25146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Circuits, qubit wires and gates</a:t>
            </a:r>
            <a:endParaRPr lang="en-US" sz="1300" dirty="0"/>
          </a:p>
          <a:p>
            <a:pPr indent="0" marL="0">
              <a:spcAft>
                <a:spcPts val="500"/>
              </a:spcAft>
              <a:buNone/>
            </a:pPr>
            <a:r>
              <a:rPr lang="en-US" sz="1300" dirty="0">
                <a:solidFill>
                  <a:schemeClr val="tx1"/>
                </a:solidFill>
              </a:rPr>
              <a:t>Why routing inserts SWAPs</a:t>
            </a:r>
            <a:endParaRPr lang="en-US" sz="1300" dirty="0"/>
          </a:p>
          <a:p>
            <a:pPr indent="0" marL="0">
              <a:spcAft>
                <a:spcPts val="500"/>
              </a:spcAft>
              <a:buNone/>
            </a:pPr>
            <a:r>
              <a:rPr lang="en-US" sz="1300" dirty="0">
                <a:solidFill>
                  <a:schemeClr val="tx1"/>
                </a:solidFill>
              </a:rPr>
              <a:t>The transpiler as a pipeline of passes</a:t>
            </a:r>
            <a:endParaRPr lang="en-US" sz="1300" dirty="0"/>
          </a:p>
          <a:p>
            <a:pPr indent="0" marL="0">
              <a:spcAft>
                <a:spcPts val="500"/>
              </a:spcAft>
              <a:buNone/>
            </a:pPr>
            <a:r>
              <a:rPr lang="en-US" sz="1300" dirty="0">
                <a:solidFill>
                  <a:schemeClr val="tx1"/>
                </a:solidFill>
              </a:rPr>
              <a:t>What it means for two gates to commute</a:t>
            </a:r>
            <a:endParaRPr lang="en-US" sz="1300" dirty="0"/>
          </a:p>
        </p:txBody>
      </p:sp>
      <p:sp>
        <p:nvSpPr>
          <p:cNvPr id="9" name="card The idea"/>
          <p:cNvSpPr/>
          <p:nvPr/>
        </p:nvSpPr>
        <p:spPr>
          <a:xfrm>
            <a:off x="3364992" y="1325880"/>
            <a:ext cx="2651760" cy="3291840"/>
          </a:xfrm>
          <a:prstGeom prst="roundRect">
            <a:avLst>
              <a:gd name="adj" fmla="val 4138"/>
            </a:avLst>
          </a:prstGeom>
          <a:solidFill>
            <a:schemeClr val="bg2"/>
          </a:solidFill>
          <a:ln w="12700">
            <a:solidFill>
              <a:schemeClr val="bg2"/>
            </a:solidFill>
            <a:prstDash val="solid"/>
          </a:ln>
        </p:spPr>
      </p:sp>
      <p:sp>
        <p:nvSpPr>
          <p:cNvPr id="10" name="badge 2"/>
          <p:cNvSpPr/>
          <p:nvPr/>
        </p:nvSpPr>
        <p:spPr>
          <a:xfrm>
            <a:off x="3547872" y="1490472"/>
            <a:ext cx="384048" cy="384048"/>
          </a:xfrm>
          <a:prstGeom prst="ellipse">
            <a:avLst/>
          </a:prstGeom>
          <a:solidFill>
            <a:schemeClr val="accent1"/>
          </a:solidFill>
          <a:ln w="12700">
            <a:solidFill>
              <a:schemeClr val="accent1"/>
            </a:solidFill>
            <a:prstDash val="solid"/>
          </a:ln>
        </p:spPr>
      </p:sp>
      <p:sp>
        <p:nvSpPr>
          <p:cNvPr id="11" name="badge text 2"/>
          <p:cNvSpPr txBox="1"/>
          <p:nvPr/>
        </p:nvSpPr>
        <p:spPr>
          <a:xfrm>
            <a:off x="3547872" y="1490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rd title The idea"/>
          <p:cNvSpPr txBox="1"/>
          <p:nvPr/>
        </p:nvSpPr>
        <p:spPr>
          <a:xfrm>
            <a:off x="4023360" y="1472184"/>
            <a:ext cx="1828800" cy="420624"/>
          </a:xfrm>
          <a:prstGeom prst="rect">
            <a:avLst/>
          </a:prstGeom>
          <a:noFill/>
          <a:ln/>
        </p:spPr>
        <p:txBody>
          <a:bodyPr wrap="square" lIns="0" tIns="0" rIns="0" bIns="0" rtlCol="0" anchor="ctr"/>
          <a:lstStyle/>
          <a:p>
            <a:pPr indent="0" marL="0">
              <a:buNone/>
            </a:pPr>
            <a:r>
              <a:rPr lang="en-US" sz="1600" b="1" dirty="0">
                <a:solidFill>
                  <a:schemeClr val="tx1"/>
                </a:solidFill>
              </a:rPr>
              <a:t>The idea</a:t>
            </a:r>
            <a:endParaRPr lang="en-US" sz="1600" dirty="0"/>
          </a:p>
        </p:txBody>
      </p:sp>
      <p:sp>
        <p:nvSpPr>
          <p:cNvPr id="13" name="card body The idea"/>
          <p:cNvSpPr txBox="1"/>
          <p:nvPr/>
        </p:nvSpPr>
        <p:spPr>
          <a:xfrm>
            <a:off x="3566160" y="2011680"/>
            <a:ext cx="2249424" cy="25146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Why a gate next to a SWAP is cheaper to compile</a:t>
            </a:r>
            <a:endParaRPr lang="en-US" sz="1300" dirty="0"/>
          </a:p>
          <a:p>
            <a:pPr indent="0" marL="0">
              <a:spcAft>
                <a:spcPts val="500"/>
              </a:spcAft>
              <a:buNone/>
            </a:pPr>
            <a:r>
              <a:rPr lang="en-US" sz="1300" dirty="0">
                <a:solidFill>
                  <a:schemeClr val="tx1"/>
                </a:solidFill>
              </a:rPr>
              <a:t>A worked example, before and after</a:t>
            </a:r>
            <a:endParaRPr lang="en-US" sz="1300" dirty="0"/>
          </a:p>
          <a:p>
            <a:pPr indent="0" marL="0">
              <a:spcAft>
                <a:spcPts val="500"/>
              </a:spcAft>
              <a:buNone/>
            </a:pPr>
            <a:r>
              <a:rPr lang="en-US" sz="1300" dirty="0">
                <a:solidFill>
                  <a:schemeClr val="tx1"/>
                </a:solidFill>
              </a:rPr>
              <a:t>The three rules every move obeys</a:t>
            </a:r>
            <a:endParaRPr lang="en-US" sz="1300" dirty="0"/>
          </a:p>
        </p:txBody>
      </p:sp>
      <p:sp>
        <p:nvSpPr>
          <p:cNvPr id="14" name="card The code"/>
          <p:cNvSpPr/>
          <p:nvPr/>
        </p:nvSpPr>
        <p:spPr>
          <a:xfrm>
            <a:off x="6181344" y="1325880"/>
            <a:ext cx="2651760" cy="3291840"/>
          </a:xfrm>
          <a:prstGeom prst="roundRect">
            <a:avLst>
              <a:gd name="adj" fmla="val 4138"/>
            </a:avLst>
          </a:prstGeom>
          <a:solidFill>
            <a:schemeClr val="bg2"/>
          </a:solidFill>
          <a:ln w="12700">
            <a:solidFill>
              <a:schemeClr val="bg2"/>
            </a:solidFill>
            <a:prstDash val="solid"/>
          </a:ln>
        </p:spPr>
      </p:sp>
      <p:sp>
        <p:nvSpPr>
          <p:cNvPr id="15" name="badge 3"/>
          <p:cNvSpPr/>
          <p:nvPr/>
        </p:nvSpPr>
        <p:spPr>
          <a:xfrm>
            <a:off x="6364224" y="1490472"/>
            <a:ext cx="384048" cy="384048"/>
          </a:xfrm>
          <a:prstGeom prst="ellipse">
            <a:avLst/>
          </a:prstGeom>
          <a:solidFill>
            <a:schemeClr val="accent1"/>
          </a:solidFill>
          <a:ln w="12700">
            <a:solidFill>
              <a:schemeClr val="accent1"/>
            </a:solidFill>
            <a:prstDash val="solid"/>
          </a:ln>
        </p:spPr>
      </p:sp>
      <p:sp>
        <p:nvSpPr>
          <p:cNvPr id="16" name="badge text 3"/>
          <p:cNvSpPr txBox="1"/>
          <p:nvPr/>
        </p:nvSpPr>
        <p:spPr>
          <a:xfrm>
            <a:off x="6364224" y="1490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ard title The code"/>
          <p:cNvSpPr txBox="1"/>
          <p:nvPr/>
        </p:nvSpPr>
        <p:spPr>
          <a:xfrm>
            <a:off x="6839712" y="1472184"/>
            <a:ext cx="1828800" cy="420624"/>
          </a:xfrm>
          <a:prstGeom prst="rect">
            <a:avLst/>
          </a:prstGeom>
          <a:noFill/>
          <a:ln/>
        </p:spPr>
        <p:txBody>
          <a:bodyPr wrap="square" lIns="0" tIns="0" rIns="0" bIns="0" rtlCol="0" anchor="ctr"/>
          <a:lstStyle/>
          <a:p>
            <a:pPr indent="0" marL="0">
              <a:buNone/>
            </a:pPr>
            <a:r>
              <a:rPr lang="en-US" sz="1600" b="1" dirty="0">
                <a:solidFill>
                  <a:schemeClr val="tx1"/>
                </a:solidFill>
              </a:rPr>
              <a:t>The code</a:t>
            </a:r>
            <a:endParaRPr lang="en-US" sz="1600" dirty="0"/>
          </a:p>
        </p:txBody>
      </p:sp>
      <p:sp>
        <p:nvSpPr>
          <p:cNvPr id="18" name="card body The code"/>
          <p:cNvSpPr txBox="1"/>
          <p:nvPr/>
        </p:nvSpPr>
        <p:spPr>
          <a:xfrm>
            <a:off x="6382512" y="2011680"/>
            <a:ext cx="2249424" cy="25146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Pauli letters: the commutation model</a:t>
            </a:r>
            <a:endParaRPr lang="en-US" sz="1300" dirty="0"/>
          </a:p>
          <a:p>
            <a:pPr indent="0" marL="0">
              <a:spcAft>
                <a:spcPts val="500"/>
              </a:spcAft>
              <a:buNone/>
            </a:pPr>
            <a:r>
              <a:rPr lang="en-US" sz="1300" dirty="0">
                <a:solidFill>
                  <a:schemeClr val="tx1"/>
                </a:solidFill>
              </a:rPr>
              <a:t>Every class, function, record and constant in _swap_absorption.py</a:t>
            </a:r>
            <a:endParaRPr lang="en-US" sz="1300" dirty="0"/>
          </a:p>
          <a:p>
            <a:pPr indent="0" marL="0">
              <a:spcAft>
                <a:spcPts val="500"/>
              </a:spcAft>
              <a:buNone/>
            </a:pPr>
            <a:r>
              <a:rPr lang="en-US" sz="1300" dirty="0">
                <a:solidFill>
                  <a:schemeClr val="tx1"/>
                </a:solidFill>
              </a:rPr>
              <a:t>The planner's four stages traced on one running example, then the rewrite</a:t>
            </a:r>
            <a:endParaRPr lang="en-US" sz="1300" dirty="0"/>
          </a:p>
        </p:txBody>
      </p:sp>
      <p:sp>
        <p:nvSpPr>
          <p:cNvPr id="19" name="card The checker change"/>
          <p:cNvSpPr/>
          <p:nvPr/>
        </p:nvSpPr>
        <p:spPr>
          <a:xfrm>
            <a:off x="8997696" y="1325880"/>
            <a:ext cx="2651760" cy="3291840"/>
          </a:xfrm>
          <a:prstGeom prst="roundRect">
            <a:avLst>
              <a:gd name="adj" fmla="val 4138"/>
            </a:avLst>
          </a:prstGeom>
          <a:solidFill>
            <a:schemeClr val="bg2"/>
          </a:solidFill>
          <a:ln w="12700">
            <a:solidFill>
              <a:schemeClr val="bg2"/>
            </a:solidFill>
            <a:prstDash val="solid"/>
          </a:ln>
        </p:spPr>
      </p:sp>
      <p:sp>
        <p:nvSpPr>
          <p:cNvPr id="20" name="badge 4"/>
          <p:cNvSpPr/>
          <p:nvPr/>
        </p:nvSpPr>
        <p:spPr>
          <a:xfrm>
            <a:off x="9180576" y="1490472"/>
            <a:ext cx="384048" cy="384048"/>
          </a:xfrm>
          <a:prstGeom prst="ellipse">
            <a:avLst/>
          </a:prstGeom>
          <a:solidFill>
            <a:schemeClr val="accent1"/>
          </a:solidFill>
          <a:ln w="12700">
            <a:solidFill>
              <a:schemeClr val="accent1"/>
            </a:solidFill>
            <a:prstDash val="solid"/>
          </a:ln>
        </p:spPr>
      </p:sp>
      <p:sp>
        <p:nvSpPr>
          <p:cNvPr id="21" name="badge text 4"/>
          <p:cNvSpPr txBox="1"/>
          <p:nvPr/>
        </p:nvSpPr>
        <p:spPr>
          <a:xfrm>
            <a:off x="9180576" y="1490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card title The checker change"/>
          <p:cNvSpPr txBox="1"/>
          <p:nvPr/>
        </p:nvSpPr>
        <p:spPr>
          <a:xfrm>
            <a:off x="9656064" y="1472184"/>
            <a:ext cx="1828800" cy="420624"/>
          </a:xfrm>
          <a:prstGeom prst="rect">
            <a:avLst/>
          </a:prstGeom>
          <a:noFill/>
          <a:ln/>
        </p:spPr>
        <p:txBody>
          <a:bodyPr wrap="square" lIns="0" tIns="0" rIns="0" bIns="0" rtlCol="0" anchor="ctr"/>
          <a:lstStyle/>
          <a:p>
            <a:pPr indent="0" marL="0">
              <a:buNone/>
            </a:pPr>
            <a:r>
              <a:rPr lang="en-US" sz="1600" b="1" dirty="0">
                <a:solidFill>
                  <a:schemeClr val="tx1"/>
                </a:solidFill>
              </a:rPr>
              <a:t>The checker change</a:t>
            </a:r>
            <a:endParaRPr lang="en-US" sz="1600" dirty="0"/>
          </a:p>
        </p:txBody>
      </p:sp>
      <p:sp>
        <p:nvSpPr>
          <p:cNvPr id="23" name="card body The checker change"/>
          <p:cNvSpPr txBox="1"/>
          <p:nvPr/>
        </p:nvSpPr>
        <p:spPr>
          <a:xfrm>
            <a:off x="9198864" y="2011680"/>
            <a:ext cx="2249424" cy="25146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What CommutationChecker is</a:t>
            </a:r>
            <a:endParaRPr lang="en-US" sz="1300" dirty="0"/>
          </a:p>
          <a:p>
            <a:pPr indent="0" marL="0">
              <a:spcAft>
                <a:spcPts val="500"/>
              </a:spcAft>
              <a:buNone/>
            </a:pPr>
            <a:r>
              <a:rPr lang="en-US" sz="1300" dirty="0">
                <a:solidFill>
                  <a:schemeClr val="tx1"/>
                </a:solidFill>
              </a:rPr>
              <a:t>The defect in check_commutation_entries and its repair</a:t>
            </a:r>
            <a:endParaRPr lang="en-US" sz="1300" dirty="0"/>
          </a:p>
          <a:p>
            <a:pPr indent="0" marL="0">
              <a:spcAft>
                <a:spcPts val="500"/>
              </a:spcAft>
              <a:buNone/>
            </a:pPr>
            <a:r>
              <a:rPr lang="en-US" sz="1300" dirty="0">
                <a:solidFill>
                  <a:schemeClr val="tx1"/>
                </a:solidFill>
              </a:rPr>
              <a:t>The new Rust binding, its contract, files and tests</a:t>
            </a:r>
            <a:endParaRPr lang="en-US" sz="1300" dirty="0"/>
          </a:p>
        </p:txBody>
      </p:sp>
      <p:sp>
        <p:nvSpPr>
          <p:cNvPr id="24" name="reading guide"/>
          <p:cNvSpPr/>
          <p:nvPr/>
        </p:nvSpPr>
        <p:spPr>
          <a:xfrm>
            <a:off x="548640" y="4892040"/>
            <a:ext cx="11094415" cy="1188720"/>
          </a:xfrm>
          <a:prstGeom prst="roundRect">
            <a:avLst>
              <a:gd name="adj" fmla="val 9231"/>
            </a:avLst>
          </a:prstGeom>
          <a:solidFill>
            <a:srgbClr val="FDF3E1"/>
          </a:solidFill>
          <a:ln w="12700">
            <a:solidFill>
              <a:srgbClr val="FDF3E1"/>
            </a:solidFill>
            <a:prstDash val="solid"/>
          </a:ln>
        </p:spPr>
      </p:sp>
      <p:sp>
        <p:nvSpPr>
          <p:cNvPr id="25" name="reading guide text"/>
          <p:cNvSpPr txBox="1"/>
          <p:nvPr/>
        </p:nvSpPr>
        <p:spPr>
          <a:xfrm>
            <a:off x="777240" y="4983480"/>
            <a:ext cx="10637215" cy="1005840"/>
          </a:xfrm>
          <a:prstGeom prst="rect">
            <a:avLst/>
          </a:prstGeom>
          <a:noFill/>
          <a:ln/>
        </p:spPr>
        <p:txBody>
          <a:bodyPr wrap="square" lIns="0" tIns="0" rIns="0" bIns="0" rtlCol="0" anchor="ctr"/>
          <a:lstStyle/>
          <a:p>
            <a:pPr indent="0" marL="0">
              <a:buNone/>
            </a:pPr>
            <a:r>
              <a:rPr lang="en-US" sz="1400" b="1" dirty="0">
                <a:solidFill>
                  <a:schemeClr val="tx1"/>
                </a:solidFill>
              </a:rPr>
              <a:t>How to read it. </a:t>
            </a:r>
            <a:pPr indent="0" marL="0">
              <a:buNone/>
            </a:pPr>
            <a:r>
              <a:rPr lang="en-US" sz="1400" dirty="0">
                <a:solidFill>
                  <a:schemeClr val="tx1"/>
                </a:solidFill>
              </a:rPr>
              <a:t>Diagrams carry the explanation; the text around them names the exact functions and variables so you can open the source alongside. Monospace names such as </a:t>
            </a:r>
            <a:pPr indent="0" marL="0">
              <a:buNone/>
            </a:pPr>
            <a:r>
              <a:rPr lang="en-US" sz="1400" dirty="0">
                <a:solidFill>
                  <a:schemeClr val="tx1"/>
                </a:solidFill>
                <a:latin typeface="Courier New" pitchFamily="34" charset="0"/>
                <a:ea typeface="Courier New" pitchFamily="34" charset="-122"/>
                <a:cs typeface="Courier New" pitchFamily="34" charset="-120"/>
              </a:rPr>
              <a:t>_find_moves</a:t>
            </a:r>
            <a:pPr indent="0" marL="0">
              <a:buNone/>
            </a:pPr>
            <a:r>
              <a:rPr lang="en-US" sz="1400" dirty="0">
                <a:solidFill>
                  <a:schemeClr val="tx1"/>
                </a:solidFill>
              </a:rPr>
              <a:t> are identifiers in the code. Everything in the module is private (leading underscore) except the public </a:t>
            </a:r>
            <a:pPr indent="0" marL="0">
              <a:buNone/>
            </a:pPr>
            <a:r>
              <a:rPr lang="en-US" sz="1400" dirty="0">
                <a:solidFill>
                  <a:schemeClr val="tx1"/>
                </a:solidFill>
                <a:latin typeface="Courier New" pitchFamily="34" charset="0"/>
                <a:ea typeface="Courier New" pitchFamily="34" charset="-122"/>
                <a:cs typeface="Courier New" pitchFamily="34" charset="-120"/>
              </a:rPr>
              <a:t>CommutationChecker.check_commutation_entries</a:t>
            </a:r>
            <a:pPr indent="0" marL="0">
              <a:buNone/>
            </a:pPr>
            <a:r>
              <a:rPr lang="en-US" sz="1400" dirty="0">
                <a:solidFill>
                  <a:schemeClr val="tx1"/>
                </a:solidFill>
              </a:rPr>
              <a:t> method.</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94415" cy="731520"/>
          </a:xfrm>
          <a:prstGeom prst="rect">
            <a:avLst/>
          </a:prstGeom>
          <a:noFill/>
          <a:ln/>
        </p:spPr>
        <p:txBody>
          <a:bodyPr wrap="square" lIns="0" tIns="0" rIns="0" bIns="0" rtlCol="0"/>
          <a:lstStyle/>
          <a:p>
            <a:pPr algn="l" indent="0" marL="0">
              <a:buNone/>
            </a:pPr>
            <a:r>
              <a:rPr lang="en-US" sz="2200" b="1" dirty="0">
                <a:solidFill>
                  <a:schemeClr val="accent2"/>
                </a:solidFill>
              </a:rPr>
              <a:t>Part 1</a:t>
            </a:r>
            <a:endParaRPr lang="en-US" sz="2200" dirty="0"/>
          </a:p>
        </p:txBody>
      </p:sp>
      <p:sp>
        <p:nvSpPr>
          <p:cNvPr id="3" name="Text 0"/>
          <p:cNvSpPr/>
          <p:nvPr>
            <p:ph idx="101" type="title" hasCustomPrompt="1"/>
          </p:nvPr>
        </p:nvSpPr>
        <p:spPr>
          <a:xfrm>
            <a:off x="548640" y="2560320"/>
            <a:ext cx="11094415" cy="1280160"/>
          </a:xfrm>
          <a:prstGeom prst="rect">
            <a:avLst/>
          </a:prstGeom>
          <a:noFill/>
          <a:ln/>
        </p:spPr>
        <p:txBody>
          <a:bodyPr wrap="square" lIns="0" tIns="0" rIns="0" bIns="0" rtlCol="0"/>
          <a:lstStyle/>
          <a:p>
            <a:pPr algn="l" indent="0" marL="0">
              <a:buNone/>
            </a:pPr>
            <a:r>
              <a:rPr lang="en-US" sz="4200" b="1" dirty="0">
                <a:solidFill>
                  <a:schemeClr val="bg1"/>
                </a:solidFill>
              </a:rPr>
              <a:t>Background: circuits, SWAPs, passes and commutation</a:t>
            </a:r>
            <a:endParaRPr lang="en-US" sz="4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 circuit is a timeline of gates on qubit wires</a:t>
            </a:r>
            <a:endParaRPr lang="en-US" sz="3000" dirty="0"/>
          </a:p>
        </p:txBody>
      </p:sp>
      <p:pic>
        <p:nvPicPr>
          <p:cNvPr id="4" name="01_circuit_basics" descr="/private/tmp/claude-501/-Users-ophir-PycharmProjects-qiskit-swap-absorption/0081b426-35e2-4c6c-a613-c495a6fcf015/scratchpad/work/svg_out/01_circuit_basic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5188" y="1234440"/>
            <a:ext cx="10561320" cy="3520440"/>
          </a:xfrm>
          <a:prstGeom prst="rect">
            <a:avLst/>
          </a:prstGeom>
        </p:spPr>
      </p:pic>
      <p:sp>
        <p:nvSpPr>
          <p:cNvPr id="5" name="card Vocabulary used later"/>
          <p:cNvSpPr/>
          <p:nvPr/>
        </p:nvSpPr>
        <p:spPr>
          <a:xfrm>
            <a:off x="548640" y="4983480"/>
            <a:ext cx="5394960" cy="1188720"/>
          </a:xfrm>
          <a:prstGeom prst="roundRect">
            <a:avLst>
              <a:gd name="adj" fmla="val 9231"/>
            </a:avLst>
          </a:prstGeom>
          <a:solidFill>
            <a:schemeClr val="bg2"/>
          </a:solidFill>
          <a:ln w="12700">
            <a:solidFill>
              <a:schemeClr val="bg2"/>
            </a:solidFill>
            <a:prstDash val="solid"/>
          </a:ln>
        </p:spPr>
      </p:sp>
      <p:sp>
        <p:nvSpPr>
          <p:cNvPr id="6" name="card title Vocabulary used later"/>
          <p:cNvSpPr txBox="1"/>
          <p:nvPr/>
        </p:nvSpPr>
        <p:spPr>
          <a:xfrm>
            <a:off x="749808" y="512064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Vocabulary used later</a:t>
            </a:r>
            <a:endParaRPr lang="en-US" sz="1600" dirty="0"/>
          </a:p>
        </p:txBody>
      </p:sp>
      <p:sp>
        <p:nvSpPr>
          <p:cNvPr id="7" name="card body Vocabulary used later"/>
          <p:cNvSpPr txBox="1"/>
          <p:nvPr/>
        </p:nvSpPr>
        <p:spPr>
          <a:xfrm>
            <a:off x="749808" y="5513832"/>
            <a:ext cx="4992624" cy="54864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A gate's qubits are its arguments, written in order: CX(control, target).</a:t>
            </a:r>
            <a:endParaRPr lang="en-US" sz="1300" dirty="0"/>
          </a:p>
          <a:p>
            <a:pPr indent="0" marL="0">
              <a:spcAft>
                <a:spcPts val="500"/>
              </a:spcAft>
              <a:buNone/>
            </a:pPr>
            <a:r>
              <a:rPr lang="en-US" sz="1300" dirty="0">
                <a:solidFill>
                  <a:schemeClr val="tx1"/>
                </a:solidFill>
              </a:rPr>
              <a:t>A one-qubit gate like RZ(θ) takes an angle parameter θ.</a:t>
            </a:r>
            <a:endParaRPr lang="en-US" sz="1300" dirty="0"/>
          </a:p>
        </p:txBody>
      </p:sp>
      <p:sp>
        <p:nvSpPr>
          <p:cNvPr id="8" name="card In Qiskit"/>
          <p:cNvSpPr/>
          <p:nvPr/>
        </p:nvSpPr>
        <p:spPr>
          <a:xfrm>
            <a:off x="6245352" y="4983480"/>
            <a:ext cx="5394960" cy="1188720"/>
          </a:xfrm>
          <a:prstGeom prst="roundRect">
            <a:avLst>
              <a:gd name="adj" fmla="val 9231"/>
            </a:avLst>
          </a:prstGeom>
          <a:solidFill>
            <a:schemeClr val="bg2"/>
          </a:solidFill>
          <a:ln w="12700">
            <a:solidFill>
              <a:schemeClr val="bg2"/>
            </a:solidFill>
            <a:prstDash val="solid"/>
          </a:ln>
        </p:spPr>
      </p:sp>
      <p:sp>
        <p:nvSpPr>
          <p:cNvPr id="9" name="card title In Qiskit"/>
          <p:cNvSpPr txBox="1"/>
          <p:nvPr/>
        </p:nvSpPr>
        <p:spPr>
          <a:xfrm>
            <a:off x="6446520" y="512064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In Qiskit</a:t>
            </a:r>
            <a:endParaRPr lang="en-US" sz="1600" dirty="0"/>
          </a:p>
        </p:txBody>
      </p:sp>
      <p:sp>
        <p:nvSpPr>
          <p:cNvPr id="10" name="card body In Qiskit"/>
          <p:cNvSpPr txBox="1"/>
          <p:nvPr/>
        </p:nvSpPr>
        <p:spPr>
          <a:xfrm>
            <a:off x="6446520" y="5513832"/>
            <a:ext cx="4992624" cy="54864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A QuantumCircuit is the user-facing object. The transpiler works on a DAGCircuit, a graph of the same gates.</a:t>
            </a:r>
            <a:endParaRPr lang="en-US" sz="1300" dirty="0"/>
          </a:p>
          <a:p>
            <a:pPr indent="0" marL="0">
              <a:spcAft>
                <a:spcPts val="500"/>
              </a:spcAft>
              <a:buNone/>
            </a:pPr>
            <a:r>
              <a:rPr lang="en-US" sz="1300" dirty="0">
                <a:solidFill>
                  <a:schemeClr val="tx1"/>
                </a:solidFill>
              </a:rPr>
              <a:t>Each gate becomes a DAGOpNode; node.qargs lists its qubits in order.</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Hardware connectivity forces routing SWAPs</a:t>
            </a:r>
            <a:endParaRPr lang="en-US" sz="3000" dirty="0"/>
          </a:p>
        </p:txBody>
      </p:sp>
      <p:pic>
        <p:nvPicPr>
          <p:cNvPr id="4" name="02_routing_swaps" descr="/private/tmp/claude-501/-Users-ophir-PycharmProjects-qiskit-swap-absorption/0081b426-35e2-4c6c-a613-c495a6fcf015/scratchpad/work/svg_out/02_routing_swap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9448" y="1234440"/>
            <a:ext cx="10972800" cy="4023360"/>
          </a:xfrm>
          <a:prstGeom prst="rect">
            <a:avLst/>
          </a:prstGeom>
        </p:spPr>
      </p:pic>
      <p:sp>
        <p:nvSpPr>
          <p:cNvPr id="5" name="caption"/>
          <p:cNvSpPr txBox="1"/>
          <p:nvPr/>
        </p:nvSpPr>
        <p:spPr>
          <a:xfrm>
            <a:off x="548640" y="5486400"/>
            <a:ext cx="11094415" cy="457200"/>
          </a:xfrm>
          <a:prstGeom prst="rect">
            <a:avLst/>
          </a:prstGeom>
          <a:noFill/>
          <a:ln/>
        </p:spPr>
        <p:txBody>
          <a:bodyPr wrap="square" lIns="0" tIns="0" rIns="0" bIns="0" rtlCol="0" anchor="t"/>
          <a:lstStyle/>
          <a:p>
            <a:pPr indent="0" marL="0">
              <a:buNone/>
            </a:pPr>
            <a:r>
              <a:rPr lang="en-US" sz="1400" dirty="0">
                <a:solidFill>
                  <a:schemeClr val="accent5"/>
                </a:solidFill>
              </a:rPr>
              <a:t>A SWAP that routing inserted is just an ordinary standard swap gate in the circuit. The pass finds such gates by name; it does not care who inserted them.</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transpiler is a pipeline of passes</a:t>
            </a:r>
            <a:endParaRPr lang="en-US" sz="3000" dirty="0"/>
          </a:p>
        </p:txBody>
      </p:sp>
      <p:pic>
        <p:nvPicPr>
          <p:cNvPr id="4" name="03_pipeline" descr="/private/tmp/claude-501/-Users-ophir-PycharmProjects-qiskit-swap-absorption/0081b426-35e2-4c6c-a613-c495a6fcf015/scratchpad/work/svg_out/03_pipelin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54906" y="1234440"/>
            <a:ext cx="9681882" cy="2743200"/>
          </a:xfrm>
          <a:prstGeom prst="rect">
            <a:avLst/>
          </a:prstGeom>
        </p:spPr>
      </p:pic>
      <p:sp>
        <p:nvSpPr>
          <p:cNvPr id="5" name="card A pass"/>
          <p:cNvSpPr/>
          <p:nvPr/>
        </p:nvSpPr>
        <p:spPr>
          <a:xfrm>
            <a:off x="548640" y="4251960"/>
            <a:ext cx="3566160" cy="1965960"/>
          </a:xfrm>
          <a:prstGeom prst="roundRect">
            <a:avLst>
              <a:gd name="adj" fmla="val 5581"/>
            </a:avLst>
          </a:prstGeom>
          <a:solidFill>
            <a:schemeClr val="bg2"/>
          </a:solidFill>
          <a:ln w="12700">
            <a:solidFill>
              <a:schemeClr val="bg2"/>
            </a:solidFill>
            <a:prstDash val="solid"/>
          </a:ln>
        </p:spPr>
      </p:sp>
      <p:sp>
        <p:nvSpPr>
          <p:cNvPr id="6" name="card title A pass"/>
          <p:cNvSpPr txBox="1"/>
          <p:nvPr/>
        </p:nvSpPr>
        <p:spPr>
          <a:xfrm>
            <a:off x="749808" y="438912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A pass</a:t>
            </a:r>
            <a:endParaRPr lang="en-US" sz="1600" dirty="0"/>
          </a:p>
        </p:txBody>
      </p:sp>
      <p:sp>
        <p:nvSpPr>
          <p:cNvPr id="7" name="card body A pass"/>
          <p:cNvSpPr txBox="1"/>
          <p:nvPr/>
        </p:nvSpPr>
        <p:spPr>
          <a:xfrm>
            <a:off x="749808" y="4782312"/>
            <a:ext cx="3163824" cy="13258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A class with a run(dag) method that receives the circuit as a DAGCircuit and returns one.</a:t>
            </a:r>
            <a:endParaRPr lang="en-US" sz="1300" dirty="0"/>
          </a:p>
          <a:p>
            <a:pPr indent="0" marL="0">
              <a:spcAft>
                <a:spcPts val="500"/>
              </a:spcAft>
              <a:buNone/>
            </a:pPr>
            <a:r>
              <a:rPr lang="en-US" sz="1300" dirty="0">
                <a:solidFill>
                  <a:schemeClr val="tx1"/>
                </a:solidFill>
              </a:rPr>
              <a:t>_AbsorbIntoSwaps is a TransformationPass: it may rewrite gates but never changes the layout.</a:t>
            </a:r>
            <a:endParaRPr lang="en-US" sz="1300" dirty="0"/>
          </a:p>
        </p:txBody>
      </p:sp>
      <p:sp>
        <p:nvSpPr>
          <p:cNvPr id="8" name="card Why this spot in the pipeline"/>
          <p:cNvSpPr/>
          <p:nvPr/>
        </p:nvSpPr>
        <p:spPr>
          <a:xfrm>
            <a:off x="4315968" y="4251960"/>
            <a:ext cx="3566160" cy="1965960"/>
          </a:xfrm>
          <a:prstGeom prst="roundRect">
            <a:avLst>
              <a:gd name="adj" fmla="val 5581"/>
            </a:avLst>
          </a:prstGeom>
          <a:solidFill>
            <a:schemeClr val="bg2"/>
          </a:solidFill>
          <a:ln w="12700">
            <a:solidFill>
              <a:schemeClr val="bg2"/>
            </a:solidFill>
            <a:prstDash val="solid"/>
          </a:ln>
        </p:spPr>
      </p:sp>
      <p:sp>
        <p:nvSpPr>
          <p:cNvPr id="9" name="card title Why this spot in the pipeline"/>
          <p:cNvSpPr txBox="1"/>
          <p:nvPr/>
        </p:nvSpPr>
        <p:spPr>
          <a:xfrm>
            <a:off x="4517136" y="438912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Why this spot in the pipeline</a:t>
            </a:r>
            <a:endParaRPr lang="en-US" sz="1600" dirty="0"/>
          </a:p>
        </p:txBody>
      </p:sp>
      <p:sp>
        <p:nvSpPr>
          <p:cNvPr id="10" name="card body Why this spot in the pipeline"/>
          <p:cNvSpPr txBox="1"/>
          <p:nvPr/>
        </p:nvSpPr>
        <p:spPr>
          <a:xfrm>
            <a:off x="4517136" y="4782312"/>
            <a:ext cx="3163824" cy="13258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Routing has just produced the SWAPs. Translation has not yet decomposed anything, so the standard gate names are still visible.</a:t>
            </a:r>
            <a:endParaRPr lang="en-US" sz="1300" dirty="0"/>
          </a:p>
          <a:p>
            <a:pPr indent="0" marL="0">
              <a:spcAft>
                <a:spcPts val="500"/>
              </a:spcAft>
              <a:buNone/>
            </a:pPr>
            <a:r>
              <a:rPr lang="en-US" sz="1300" dirty="0">
                <a:solidFill>
                  <a:schemeClr val="tx1"/>
                </a:solidFill>
              </a:rPr>
              <a:t>The later 2-qubit peephole synthesis will merge each SWAP with its new neighbour.</a:t>
            </a:r>
            <a:endParaRPr lang="en-US" sz="1300" dirty="0"/>
          </a:p>
        </p:txBody>
      </p:sp>
      <p:sp>
        <p:nvSpPr>
          <p:cNvPr id="11" name="card Where it is wired in"/>
          <p:cNvSpPr/>
          <p:nvPr/>
        </p:nvSpPr>
        <p:spPr>
          <a:xfrm>
            <a:off x="8083296" y="4251960"/>
            <a:ext cx="3566160" cy="1965960"/>
          </a:xfrm>
          <a:prstGeom prst="roundRect">
            <a:avLst>
              <a:gd name="adj" fmla="val 5581"/>
            </a:avLst>
          </a:prstGeom>
          <a:solidFill>
            <a:schemeClr val="bg2"/>
          </a:solidFill>
          <a:ln w="12700">
            <a:solidFill>
              <a:schemeClr val="bg2"/>
            </a:solidFill>
            <a:prstDash val="solid"/>
          </a:ln>
        </p:spPr>
      </p:sp>
      <p:sp>
        <p:nvSpPr>
          <p:cNvPr id="12" name="card title Where it is wired in"/>
          <p:cNvSpPr txBox="1"/>
          <p:nvPr/>
        </p:nvSpPr>
        <p:spPr>
          <a:xfrm>
            <a:off x="8284464" y="438912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Where it is wired in</a:t>
            </a:r>
            <a:endParaRPr lang="en-US" sz="1600" dirty="0"/>
          </a:p>
        </p:txBody>
      </p:sp>
      <p:sp>
        <p:nvSpPr>
          <p:cNvPr id="13" name="card body Where it is wired in"/>
          <p:cNvSpPr txBox="1"/>
          <p:nvPr/>
        </p:nvSpPr>
        <p:spPr>
          <a:xfrm>
            <a:off x="8284464" y="4782312"/>
            <a:ext cx="3163824" cy="13258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common.generate_translation_passmanager() adds the pass when optimization_level is 2 or 3.</a:t>
            </a:r>
            <a:endParaRPr lang="en-US" sz="1300" dirty="0"/>
          </a:p>
          <a:p>
            <a:pPr indent="0" marL="0">
              <a:spcAft>
                <a:spcPts val="500"/>
              </a:spcAft>
              <a:buNone/>
            </a:pPr>
            <a:r>
              <a:rPr lang="en-US" sz="1300" dirty="0">
                <a:solidFill>
                  <a:schemeClr val="tx1"/>
                </a:solidFill>
              </a:rPr>
              <a:t>Levels 0 and 1 and the default None are unchanged. Provider plugins calling the helper inherit the behaviour.</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Commuting gates can change order safely</a:t>
            </a:r>
            <a:endParaRPr lang="en-US" sz="3000" dirty="0"/>
          </a:p>
        </p:txBody>
      </p:sp>
      <p:pic>
        <p:nvPicPr>
          <p:cNvPr id="4" name="04_commutation" descr="/private/tmp/claude-501/-Users-ophir-PycharmProjects-qiskit-swap-absorption/0081b426-35e2-4c6c-a613-c495a6fcf015/scratchpad/work/svg_out/04_commutation.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234440"/>
            <a:ext cx="11094415" cy="3883045"/>
          </a:xfrm>
          <a:prstGeom prst="rect">
            <a:avLst/>
          </a:prstGeom>
        </p:spPr>
      </p:pic>
      <p:sp>
        <p:nvSpPr>
          <p:cNvPr id="5" name="caption"/>
          <p:cNvSpPr txBox="1"/>
          <p:nvPr/>
        </p:nvSpPr>
        <p:spPr>
          <a:xfrm>
            <a:off x="548640" y="5346085"/>
            <a:ext cx="11094415" cy="457200"/>
          </a:xfrm>
          <a:prstGeom prst="rect">
            <a:avLst/>
          </a:prstGeom>
          <a:noFill/>
          <a:ln/>
        </p:spPr>
        <p:txBody>
          <a:bodyPr wrap="square" lIns="0" tIns="0" rIns="0" bIns="0" rtlCol="0" anchor="t"/>
          <a:lstStyle/>
          <a:p>
            <a:pPr indent="0" marL="0">
              <a:buNone/>
            </a:pPr>
            <a:r>
              <a:rPr lang="en-US" sz="1400" dirty="0">
                <a:solidFill>
                  <a:schemeClr val="accent5"/>
                </a:solidFill>
              </a:rPr>
              <a:t>Exact commutation is what the pass needs: the rewritten circuit must compute precisely the same unitary, including its global phase, not merely something close to it.</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94415" cy="731520"/>
          </a:xfrm>
          <a:prstGeom prst="rect">
            <a:avLst/>
          </a:prstGeom>
          <a:noFill/>
          <a:ln/>
        </p:spPr>
        <p:txBody>
          <a:bodyPr wrap="square" lIns="0" tIns="0" rIns="0" bIns="0" rtlCol="0"/>
          <a:lstStyle/>
          <a:p>
            <a:pPr algn="l" indent="0" marL="0">
              <a:buNone/>
            </a:pPr>
            <a:r>
              <a:rPr lang="en-US" sz="2200" b="1" dirty="0">
                <a:solidFill>
                  <a:schemeClr val="accent2"/>
                </a:solidFill>
              </a:rPr>
              <a:t>Part 2</a:t>
            </a:r>
            <a:endParaRPr lang="en-US" sz="2200" dirty="0"/>
          </a:p>
        </p:txBody>
      </p:sp>
      <p:sp>
        <p:nvSpPr>
          <p:cNvPr id="3" name="Text 0"/>
          <p:cNvSpPr/>
          <p:nvPr>
            <p:ph idx="101" type="title" hasCustomPrompt="1"/>
          </p:nvPr>
        </p:nvSpPr>
        <p:spPr>
          <a:xfrm>
            <a:off x="548640" y="2560320"/>
            <a:ext cx="11094415" cy="1280160"/>
          </a:xfrm>
          <a:prstGeom prst="rect">
            <a:avLst/>
          </a:prstGeom>
          <a:noFill/>
          <a:ln/>
        </p:spPr>
        <p:txBody>
          <a:bodyPr wrap="square" lIns="0" tIns="0" rIns="0" bIns="0" rtlCol="0"/>
          <a:lstStyle/>
          <a:p>
            <a:pPr algn="l" indent="0" marL="0">
              <a:buNone/>
            </a:pPr>
            <a:r>
              <a:rPr lang="en-US" sz="4200" b="1" dirty="0">
                <a:solidFill>
                  <a:schemeClr val="bg1"/>
                </a:solidFill>
              </a:rPr>
              <a:t>The idea: put a two-qubit gate right next to its SWAP</a:t>
            </a:r>
            <a:endParaRPr lang="en-US" sz="4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Why adjacency pays: SWAP + CX costs 2 CX instead of 4</a:t>
            </a:r>
            <a:endParaRPr lang="en-US" sz="3000" dirty="0"/>
          </a:p>
        </p:txBody>
      </p:sp>
      <p:pic>
        <p:nvPicPr>
          <p:cNvPr id="4" name="05_swap_cx_cost" descr="/private/tmp/claude-501/-Users-ophir-PycharmProjects-qiskit-swap-absorption/0081b426-35e2-4c6c-a613-c495a6fcf015/scratchpad/work/svg_out/05_swap_cx_cost.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70557" y="1234440"/>
            <a:ext cx="9850582" cy="3611880"/>
          </a:xfrm>
          <a:prstGeom prst="rect">
            <a:avLst/>
          </a:prstGeom>
        </p:spPr>
      </p:pic>
      <p:sp>
        <p:nvSpPr>
          <p:cNvPr id="5" name="card In general"/>
          <p:cNvSpPr/>
          <p:nvPr/>
        </p:nvSpPr>
        <p:spPr>
          <a:xfrm>
            <a:off x="548640" y="5074920"/>
            <a:ext cx="5394960" cy="1188720"/>
          </a:xfrm>
          <a:prstGeom prst="roundRect">
            <a:avLst>
              <a:gd name="adj" fmla="val 9231"/>
            </a:avLst>
          </a:prstGeom>
          <a:solidFill>
            <a:schemeClr val="bg2"/>
          </a:solidFill>
          <a:ln w="12700">
            <a:solidFill>
              <a:schemeClr val="bg2"/>
            </a:solidFill>
            <a:prstDash val="solid"/>
          </a:ln>
        </p:spPr>
      </p:sp>
      <p:sp>
        <p:nvSpPr>
          <p:cNvPr id="6" name="card title In general"/>
          <p:cNvSpPr txBox="1"/>
          <p:nvPr/>
        </p:nvSpPr>
        <p:spPr>
          <a:xfrm>
            <a:off x="749808" y="521208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In general</a:t>
            </a:r>
            <a:endParaRPr lang="en-US" sz="1600" dirty="0"/>
          </a:p>
        </p:txBody>
      </p:sp>
      <p:sp>
        <p:nvSpPr>
          <p:cNvPr id="7" name="card body In general"/>
          <p:cNvSpPr txBox="1"/>
          <p:nvPr/>
        </p:nvSpPr>
        <p:spPr>
          <a:xfrm>
            <a:off x="749808" y="5605272"/>
            <a:ext cx="4992624" cy="54864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Any two-qubit gate adjacent to a SWAP on the same pair can be synthesized with it as one block. The pass only arranges adjacency; synthesis happens later.</a:t>
            </a:r>
            <a:endParaRPr lang="en-US" sz="1300" dirty="0"/>
          </a:p>
        </p:txBody>
      </p:sp>
      <p:sp>
        <p:nvSpPr>
          <p:cNvPr id="8" name="card References"/>
          <p:cNvSpPr/>
          <p:nvPr/>
        </p:nvSpPr>
        <p:spPr>
          <a:xfrm>
            <a:off x="6245352" y="5074920"/>
            <a:ext cx="5394960" cy="1188720"/>
          </a:xfrm>
          <a:prstGeom prst="roundRect">
            <a:avLst>
              <a:gd name="adj" fmla="val 9231"/>
            </a:avLst>
          </a:prstGeom>
          <a:solidFill>
            <a:schemeClr val="bg2"/>
          </a:solidFill>
          <a:ln w="12700">
            <a:solidFill>
              <a:schemeClr val="bg2"/>
            </a:solidFill>
            <a:prstDash val="solid"/>
          </a:ln>
        </p:spPr>
      </p:sp>
      <p:sp>
        <p:nvSpPr>
          <p:cNvPr id="9" name="card title References"/>
          <p:cNvSpPr txBox="1"/>
          <p:nvPr/>
        </p:nvSpPr>
        <p:spPr>
          <a:xfrm>
            <a:off x="6446520" y="521208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References</a:t>
            </a:r>
            <a:endParaRPr lang="en-US" sz="1600" dirty="0"/>
          </a:p>
        </p:txBody>
      </p:sp>
      <p:sp>
        <p:nvSpPr>
          <p:cNvPr id="10" name="card body References"/>
          <p:cNvSpPr txBox="1"/>
          <p:nvPr/>
        </p:nvSpPr>
        <p:spPr>
          <a:xfrm>
            <a:off x="6446520" y="5605272"/>
            <a:ext cx="4992624" cy="54864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[1] Liu, Li, Zhou. Not All SWAPs Have the Same Cost. arXiv:2205.10596</a:t>
            </a:r>
            <a:endParaRPr lang="en-US" sz="1300" dirty="0"/>
          </a:p>
          <a:p>
            <a:pPr indent="0" marL="0">
              <a:spcAft>
                <a:spcPts val="500"/>
              </a:spcAft>
              <a:buNone/>
            </a:pPr>
            <a:r>
              <a:rPr lang="en-US" sz="1300" dirty="0">
                <a:solidFill>
                  <a:schemeClr val="tx1"/>
                </a:solidFill>
              </a:rPr>
              <a:t>[2] Lao, Browne. 2QAN. arXiv:2108.02099</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pass in one example</a:t>
            </a:r>
            <a:endParaRPr lang="en-US" sz="3000" dirty="0"/>
          </a:p>
        </p:txBody>
      </p:sp>
      <p:pic>
        <p:nvPicPr>
          <p:cNvPr id="4" name="06_before_after_example" descr="/private/tmp/claude-501/-Users-ophir-PycharmProjects-qiskit-swap-absorption/0081b426-35e2-4c6c-a613-c495a6fcf015/scratchpad/work/svg_out/06_before_after_exampl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121007" y="1188720"/>
            <a:ext cx="7949682" cy="3246120"/>
          </a:xfrm>
          <a:prstGeom prst="rect">
            <a:avLst/>
          </a:prstGeom>
        </p:spPr>
      </p:pic>
      <p:sp>
        <p:nvSpPr>
          <p:cNvPr id="5" name="code card"/>
          <p:cNvSpPr/>
          <p:nvPr/>
        </p:nvSpPr>
        <p:spPr>
          <a:xfrm>
            <a:off x="548640" y="4617720"/>
            <a:ext cx="11094415" cy="1234440"/>
          </a:xfrm>
          <a:prstGeom prst="roundRect">
            <a:avLst>
              <a:gd name="adj" fmla="val 7407"/>
            </a:avLst>
          </a:prstGeom>
          <a:solidFill>
            <a:schemeClr val="bg2"/>
          </a:solidFill>
          <a:ln w="12700">
            <a:solidFill>
              <a:schemeClr val="bg2"/>
            </a:solidFill>
            <a:prstDash val="solid"/>
          </a:ln>
        </p:spPr>
      </p:sp>
      <p:sp>
        <p:nvSpPr>
          <p:cNvPr id="6" name="code"/>
          <p:cNvSpPr txBox="1"/>
          <p:nvPr/>
        </p:nvSpPr>
        <p:spPr>
          <a:xfrm>
            <a:off x="731520" y="4754880"/>
            <a:ext cx="10728655" cy="960120"/>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from qiskit import QuantumCircuit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from qiskit.converters import circuit_to_dag, dag_to_circuit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from qiskit.transpiler.preset_passmanagers._swap_absorption import _AbsorbIntoSwaps</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qc = QuantumCircuit(3); qc.swap(0, 1); qc.rz(0.2, 0); qc.cp(0.3, 0, 1); qc.cx(0, 2); qc.cx(1, 2)</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out = dag_to_circuit(_AbsorbIntoSwaps().run(circuit_to_dag(qc)))   # order now: swap, cp, rz, cx, cx  ·  Operator(out) == Operator(qc)</a:t>
            </a:r>
            <a:endParaRPr lang="en-US" sz="1050" dirty="0"/>
          </a:p>
        </p:txBody>
      </p:sp>
      <p:sp>
        <p:nvSpPr>
          <p:cNvPr id="7" name="caption"/>
          <p:cNvSpPr txBox="1"/>
          <p:nvPr/>
        </p:nvSpPr>
        <p:spPr>
          <a:xfrm>
            <a:off x="548640" y="5989320"/>
            <a:ext cx="11094415" cy="457200"/>
          </a:xfrm>
          <a:prstGeom prst="rect">
            <a:avLst/>
          </a:prstGeom>
          <a:noFill/>
          <a:ln/>
        </p:spPr>
        <p:txBody>
          <a:bodyPr wrap="square" lIns="0" tIns="0" rIns="0" bIns="0" rtlCol="0" anchor="t"/>
          <a:lstStyle/>
          <a:p>
            <a:pPr indent="0" marL="0">
              <a:buNone/>
            </a:pPr>
            <a:r>
              <a:rPr lang="en-US" sz="1400" dirty="0">
                <a:solidFill>
                  <a:schemeClr val="accent5"/>
                </a:solidFill>
              </a:rPr>
              <a:t>Replace RZ(0.2) with RY(1e-6) and nothing moves: Y and Z letters differ, however small the angle. Replace it with a barrier and nothing moves either.</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Three rules every move obeys</a:t>
            </a:r>
            <a:endParaRPr lang="en-US" sz="3000" dirty="0"/>
          </a:p>
        </p:txBody>
      </p:sp>
      <p:pic>
        <p:nvPicPr>
          <p:cNvPr id="4" name="07_movement_rules" descr="/private/tmp/claude-501/-Users-ophir-PycharmProjects-qiskit-swap-absorption/0081b426-35e2-4c6c-a613-c495a6fcf015/scratchpad/work/svg_out/07_movement_rule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9176" y="1188720"/>
            <a:ext cx="10753344" cy="4480560"/>
          </a:xfrm>
          <a:prstGeom prst="rect">
            <a:avLst/>
          </a:prstGeom>
        </p:spPr>
      </p:pic>
      <p:sp>
        <p:nvSpPr>
          <p:cNvPr id="5" name="caption"/>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400" dirty="0">
                <a:solidFill>
                  <a:schemeClr val="accent5"/>
                </a:solidFill>
              </a:rPr>
              <a:t>Only two-qubit gates on exactly the SWAP's pair of qubits are candidates. One-qubit gates can be crossed but are never moved themselves.</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What the pass deliberately does not do</a:t>
            </a:r>
            <a:endParaRPr lang="en-US" sz="3000" dirty="0"/>
          </a:p>
        </p:txBody>
      </p:sp>
      <p:sp>
        <p:nvSpPr>
          <p:cNvPr id="4" name="card No SWAP is deleted"/>
          <p:cNvSpPr/>
          <p:nvPr/>
        </p:nvSpPr>
        <p:spPr>
          <a:xfrm>
            <a:off x="548640" y="1280160"/>
            <a:ext cx="3566160" cy="2240280"/>
          </a:xfrm>
          <a:prstGeom prst="roundRect">
            <a:avLst>
              <a:gd name="adj" fmla="val 4898"/>
            </a:avLst>
          </a:prstGeom>
          <a:solidFill>
            <a:schemeClr val="bg2"/>
          </a:solidFill>
          <a:ln w="12700">
            <a:solidFill>
              <a:schemeClr val="bg2"/>
            </a:solidFill>
            <a:prstDash val="solid"/>
          </a:ln>
        </p:spPr>
      </p:sp>
      <p:sp>
        <p:nvSpPr>
          <p:cNvPr id="5" name="card title No SWAP is deleted"/>
          <p:cNvSpPr txBox="1"/>
          <p:nvPr/>
        </p:nvSpPr>
        <p:spPr>
          <a:xfrm>
            <a:off x="749808" y="141732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No SWAP is deleted</a:t>
            </a:r>
            <a:endParaRPr lang="en-US" sz="1600" dirty="0"/>
          </a:p>
        </p:txBody>
      </p:sp>
      <p:sp>
        <p:nvSpPr>
          <p:cNvPr id="6" name="card body No SWAP is deleted"/>
          <p:cNvSpPr txBox="1"/>
          <p:nvPr/>
        </p:nvSpPr>
        <p:spPr>
          <a:xfrm>
            <a:off x="749808" y="1810512"/>
            <a:ext cx="3163824" cy="1600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The pass keeps every SWAP and every gate with its parameters. It only reorders. Gate counts are unchanged until later synthesis merges blocks.</a:t>
            </a:r>
            <a:endParaRPr lang="en-US" sz="1300" dirty="0"/>
          </a:p>
        </p:txBody>
      </p:sp>
      <p:sp>
        <p:nvSpPr>
          <p:cNvPr id="7" name="card No synthesis, no layout change"/>
          <p:cNvSpPr/>
          <p:nvPr/>
        </p:nvSpPr>
        <p:spPr>
          <a:xfrm>
            <a:off x="4315968" y="1280160"/>
            <a:ext cx="3566160" cy="2240280"/>
          </a:xfrm>
          <a:prstGeom prst="roundRect">
            <a:avLst>
              <a:gd name="adj" fmla="val 4898"/>
            </a:avLst>
          </a:prstGeom>
          <a:solidFill>
            <a:schemeClr val="bg2"/>
          </a:solidFill>
          <a:ln w="12700">
            <a:solidFill>
              <a:schemeClr val="bg2"/>
            </a:solidFill>
            <a:prstDash val="solid"/>
          </a:ln>
        </p:spPr>
      </p:sp>
      <p:sp>
        <p:nvSpPr>
          <p:cNvPr id="8" name="card title No synthesis, no layout change"/>
          <p:cNvSpPr txBox="1"/>
          <p:nvPr/>
        </p:nvSpPr>
        <p:spPr>
          <a:xfrm>
            <a:off x="4517136" y="141732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No synthesis, no layout change</a:t>
            </a:r>
            <a:endParaRPr lang="en-US" sz="1600" dirty="0"/>
          </a:p>
        </p:txBody>
      </p:sp>
      <p:sp>
        <p:nvSpPr>
          <p:cNvPr id="9" name="card body No synthesis, no layout change"/>
          <p:cNvSpPr txBox="1"/>
          <p:nvPr/>
        </p:nvSpPr>
        <p:spPr>
          <a:xfrm>
            <a:off x="4517136" y="1810512"/>
            <a:ext cx="3163824" cy="1600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It never builds matrices for the circuit, never picks routes, never changes the layout. Its whole output is better placement.</a:t>
            </a:r>
            <a:endParaRPr lang="en-US" sz="1300" dirty="0"/>
          </a:p>
        </p:txBody>
      </p:sp>
      <p:sp>
        <p:nvSpPr>
          <p:cNvPr id="10" name="card Never across a SWAP"/>
          <p:cNvSpPr/>
          <p:nvPr/>
        </p:nvSpPr>
        <p:spPr>
          <a:xfrm>
            <a:off x="8083296" y="1280160"/>
            <a:ext cx="3566160" cy="2240280"/>
          </a:xfrm>
          <a:prstGeom prst="roundRect">
            <a:avLst>
              <a:gd name="adj" fmla="val 4898"/>
            </a:avLst>
          </a:prstGeom>
          <a:solidFill>
            <a:schemeClr val="bg2"/>
          </a:solidFill>
          <a:ln w="12700">
            <a:solidFill>
              <a:schemeClr val="bg2"/>
            </a:solidFill>
            <a:prstDash val="solid"/>
          </a:ln>
        </p:spPr>
      </p:sp>
      <p:sp>
        <p:nvSpPr>
          <p:cNvPr id="11" name="card title Never across a SWAP"/>
          <p:cNvSpPr txBox="1"/>
          <p:nvPr/>
        </p:nvSpPr>
        <p:spPr>
          <a:xfrm>
            <a:off x="8284464" y="141732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Never across a SWAP</a:t>
            </a:r>
            <a:endParaRPr lang="en-US" sz="1600" dirty="0"/>
          </a:p>
        </p:txBody>
      </p:sp>
      <p:sp>
        <p:nvSpPr>
          <p:cNvPr id="12" name="card body Never across a SWAP"/>
          <p:cNvSpPr txBox="1"/>
          <p:nvPr/>
        </p:nvSpPr>
        <p:spPr>
          <a:xfrm>
            <a:off x="8284464" y="1810512"/>
            <a:ext cx="3163824" cy="1600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A candidate may approach a SWAP but never jump over it. Asymmetric gates like CRZ(a,b) do not commute with SWAP(a,b).</a:t>
            </a:r>
            <a:endParaRPr lang="en-US" sz="1300" dirty="0"/>
          </a:p>
        </p:txBody>
      </p:sp>
      <p:sp>
        <p:nvSpPr>
          <p:cNvPr id="13" name="card No control flow"/>
          <p:cNvSpPr/>
          <p:nvPr/>
        </p:nvSpPr>
        <p:spPr>
          <a:xfrm>
            <a:off x="548640" y="3703320"/>
            <a:ext cx="3566160" cy="2240280"/>
          </a:xfrm>
          <a:prstGeom prst="roundRect">
            <a:avLst>
              <a:gd name="adj" fmla="val 4898"/>
            </a:avLst>
          </a:prstGeom>
          <a:solidFill>
            <a:schemeClr val="bg2"/>
          </a:solidFill>
          <a:ln w="12700">
            <a:solidFill>
              <a:schemeClr val="bg2"/>
            </a:solidFill>
            <a:prstDash val="solid"/>
          </a:ln>
        </p:spPr>
      </p:sp>
      <p:sp>
        <p:nvSpPr>
          <p:cNvPr id="14" name="card title No control flow"/>
          <p:cNvSpPr txBox="1"/>
          <p:nvPr/>
        </p:nvSpPr>
        <p:spPr>
          <a:xfrm>
            <a:off x="749808" y="384048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No control flow</a:t>
            </a:r>
            <a:endParaRPr lang="en-US" sz="1600" dirty="0"/>
          </a:p>
        </p:txBody>
      </p:sp>
      <p:sp>
        <p:nvSpPr>
          <p:cNvPr id="15" name="card body No control flow"/>
          <p:cNvSpPr txBox="1"/>
          <p:nvPr/>
        </p:nvSpPr>
        <p:spPr>
          <a:xfrm>
            <a:off x="749808" y="4233672"/>
            <a:ext cx="3163824" cy="1600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Control-flow blocks (if, while, for) are not entered. Barriers, measurements and resets are walls.</a:t>
            </a:r>
            <a:endParaRPr lang="en-US" sz="1300" dirty="0"/>
          </a:p>
        </p:txBody>
      </p:sp>
      <p:sp>
        <p:nvSpPr>
          <p:cNvPr id="16" name="card Conservative by design"/>
          <p:cNvSpPr/>
          <p:nvPr/>
        </p:nvSpPr>
        <p:spPr>
          <a:xfrm>
            <a:off x="4315968" y="3703320"/>
            <a:ext cx="3566160" cy="2240280"/>
          </a:xfrm>
          <a:prstGeom prst="roundRect">
            <a:avLst>
              <a:gd name="adj" fmla="val 4898"/>
            </a:avLst>
          </a:prstGeom>
          <a:solidFill>
            <a:schemeClr val="bg2"/>
          </a:solidFill>
          <a:ln w="12700">
            <a:solidFill>
              <a:schemeClr val="bg2"/>
            </a:solidFill>
            <a:prstDash val="solid"/>
          </a:ln>
        </p:spPr>
      </p:sp>
      <p:sp>
        <p:nvSpPr>
          <p:cNvPr id="17" name="card title Conservative by design"/>
          <p:cNvSpPr txBox="1"/>
          <p:nvPr/>
        </p:nvSpPr>
        <p:spPr>
          <a:xfrm>
            <a:off x="4517136" y="384048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Conservative by design</a:t>
            </a:r>
            <a:endParaRPr lang="en-US" sz="1600" dirty="0"/>
          </a:p>
        </p:txBody>
      </p:sp>
      <p:sp>
        <p:nvSpPr>
          <p:cNvPr id="18" name="card body Conservative by design"/>
          <p:cNvSpPr txBox="1"/>
          <p:nvPr/>
        </p:nvSpPr>
        <p:spPr>
          <a:xfrm>
            <a:off x="4517136" y="4233672"/>
            <a:ext cx="3163824" cy="1600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RXX and RYY on the same pair commute, but their letters differ (XX vs YY), so no move. RY(0) keeps the Y letter: angles are never inspected.</a:t>
            </a:r>
            <a:endParaRPr lang="en-US" sz="1300" dirty="0"/>
          </a:p>
        </p:txBody>
      </p:sp>
      <p:sp>
        <p:nvSpPr>
          <p:cNvPr id="19" name="card At most one new partner per SWAP"/>
          <p:cNvSpPr/>
          <p:nvPr/>
        </p:nvSpPr>
        <p:spPr>
          <a:xfrm>
            <a:off x="8083296" y="3703320"/>
            <a:ext cx="3566160" cy="2240280"/>
          </a:xfrm>
          <a:prstGeom prst="roundRect">
            <a:avLst>
              <a:gd name="adj" fmla="val 4898"/>
            </a:avLst>
          </a:prstGeom>
          <a:solidFill>
            <a:schemeClr val="bg2"/>
          </a:solidFill>
          <a:ln w="12700">
            <a:solidFill>
              <a:schemeClr val="bg2"/>
            </a:solidFill>
            <a:prstDash val="solid"/>
          </a:ln>
        </p:spPr>
      </p:sp>
      <p:sp>
        <p:nvSpPr>
          <p:cNvPr id="20" name="card title At most one new partner per SWAP"/>
          <p:cNvSpPr txBox="1"/>
          <p:nvPr/>
        </p:nvSpPr>
        <p:spPr>
          <a:xfrm>
            <a:off x="8284464" y="3840480"/>
            <a:ext cx="3163824" cy="365760"/>
          </a:xfrm>
          <a:prstGeom prst="rect">
            <a:avLst/>
          </a:prstGeom>
          <a:noFill/>
          <a:ln/>
        </p:spPr>
        <p:txBody>
          <a:bodyPr wrap="square" lIns="0" tIns="0" rIns="0" bIns="0" rtlCol="0" anchor="ctr"/>
          <a:lstStyle/>
          <a:p>
            <a:pPr indent="0" marL="0">
              <a:buNone/>
            </a:pPr>
            <a:r>
              <a:rPr lang="en-US" sz="1600" b="1" dirty="0">
                <a:solidFill>
                  <a:schemeClr val="accent1"/>
                </a:solidFill>
              </a:rPr>
              <a:t>At most one new partner per SWAP</a:t>
            </a:r>
            <a:endParaRPr lang="en-US" sz="1600" dirty="0"/>
          </a:p>
        </p:txBody>
      </p:sp>
      <p:sp>
        <p:nvSpPr>
          <p:cNvPr id="21" name="card body At most one new partner per SWAP"/>
          <p:cNvSpPr txBox="1"/>
          <p:nvPr/>
        </p:nvSpPr>
        <p:spPr>
          <a:xfrm>
            <a:off x="8284464" y="4233672"/>
            <a:ext cx="3163824" cy="1600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Each run picks at most one candidate for each SWAP that does not already touch a same-pair gate. Greedy, deterministic, no global search.</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94415" cy="731520"/>
          </a:xfrm>
          <a:prstGeom prst="rect">
            <a:avLst/>
          </a:prstGeom>
          <a:noFill/>
          <a:ln/>
        </p:spPr>
        <p:txBody>
          <a:bodyPr wrap="square" lIns="0" tIns="0" rIns="0" bIns="0" rtlCol="0"/>
          <a:lstStyle/>
          <a:p>
            <a:pPr algn="l" indent="0" marL="0">
              <a:buNone/>
            </a:pPr>
            <a:r>
              <a:rPr lang="en-US" sz="2200" b="1" dirty="0">
                <a:solidFill>
                  <a:schemeClr val="accent2"/>
                </a:solidFill>
              </a:rPr>
              <a:t>Part 3a</a:t>
            </a:r>
            <a:endParaRPr lang="en-US" sz="2200" dirty="0"/>
          </a:p>
        </p:txBody>
      </p:sp>
      <p:sp>
        <p:nvSpPr>
          <p:cNvPr id="3" name="Text 0"/>
          <p:cNvSpPr/>
          <p:nvPr>
            <p:ph idx="101" type="title" hasCustomPrompt="1"/>
          </p:nvPr>
        </p:nvSpPr>
        <p:spPr>
          <a:xfrm>
            <a:off x="548640" y="2560320"/>
            <a:ext cx="11094415" cy="1280160"/>
          </a:xfrm>
          <a:prstGeom prst="rect">
            <a:avLst/>
          </a:prstGeom>
          <a:noFill/>
          <a:ln/>
        </p:spPr>
        <p:txBody>
          <a:bodyPr wrap="square" lIns="0" tIns="0" rIns="0" bIns="0" rtlCol="0"/>
          <a:lstStyle/>
          <a:p>
            <a:pPr algn="l" indent="0" marL="0">
              <a:buNone/>
            </a:pPr>
            <a:r>
              <a:rPr lang="en-US" sz="4200" b="1" dirty="0">
                <a:solidFill>
                  <a:schemeClr val="bg1"/>
                </a:solidFill>
              </a:rPr>
              <a:t>The commutation model: one Pauli letter per wire</a:t>
            </a:r>
            <a:endParaRPr lang="en-US" sz="4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One Pauli letter per wire</a:t>
            </a:r>
            <a:endParaRPr lang="en-US" sz="3000" dirty="0"/>
          </a:p>
        </p:txBody>
      </p:sp>
      <p:pic>
        <p:nvPicPr>
          <p:cNvPr id="4" name="08_labels" descr="/private/tmp/claude-501/-Users-ophir-PycharmProjects-qiskit-swap-absorption/0081b426-35e2-4c6c-a613-c495a6fcf015/scratchpad/work/svg_out/08_label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3975499"/>
          </a:xfrm>
          <a:prstGeom prst="rect">
            <a:avLst/>
          </a:prstGeom>
        </p:spPr>
      </p:pic>
      <p:sp>
        <p:nvSpPr>
          <p:cNvPr id="5" name="caption"/>
          <p:cNvSpPr txBox="1"/>
          <p:nvPr/>
        </p:nvSpPr>
        <p:spPr>
          <a:xfrm>
            <a:off x="548640" y="5392819"/>
            <a:ext cx="11094415" cy="457200"/>
          </a:xfrm>
          <a:prstGeom prst="rect">
            <a:avLst/>
          </a:prstGeom>
          <a:noFill/>
          <a:ln/>
        </p:spPr>
        <p:txBody>
          <a:bodyPr wrap="square" lIns="0" tIns="0" rIns="0" bIns="0" rtlCol="0" anchor="t"/>
          <a:lstStyle/>
          <a:p>
            <a:pPr indent="0" marL="0">
              <a:buNone/>
            </a:pPr>
            <a:r>
              <a:rPr lang="en-US" sz="1400" dirty="0">
                <a:solidFill>
                  <a:schemeClr val="accent5"/>
                </a:solidFill>
              </a:rPr>
              <a:t>The string follows node.qargs order, not Qiskit's Pauli-string convention. RZX(a, b) is 'ZX': Z on its first argument, X on its second.</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Why matching letters guarantee exact commutation</a:t>
            </a:r>
            <a:endParaRPr lang="en-US" sz="3000" dirty="0"/>
          </a:p>
        </p:txBody>
      </p:sp>
      <p:sp>
        <p:nvSpPr>
          <p:cNvPr id="4" name="card Same letter on a shared wire"/>
          <p:cNvSpPr/>
          <p:nvPr/>
        </p:nvSpPr>
        <p:spPr>
          <a:xfrm>
            <a:off x="548640" y="1280160"/>
            <a:ext cx="3566160" cy="2194560"/>
          </a:xfrm>
          <a:prstGeom prst="roundRect">
            <a:avLst>
              <a:gd name="adj" fmla="val 5000"/>
            </a:avLst>
          </a:prstGeom>
          <a:solidFill>
            <a:schemeClr val="bg2"/>
          </a:solidFill>
          <a:ln w="12700">
            <a:solidFill>
              <a:schemeClr val="bg2"/>
            </a:solidFill>
            <a:prstDash val="solid"/>
          </a:ln>
        </p:spPr>
      </p:sp>
      <p:sp>
        <p:nvSpPr>
          <p:cNvPr id="5" name="badge 1"/>
          <p:cNvSpPr/>
          <p:nvPr/>
        </p:nvSpPr>
        <p:spPr>
          <a:xfrm>
            <a:off x="731520" y="1444752"/>
            <a:ext cx="384048" cy="384048"/>
          </a:xfrm>
          <a:prstGeom prst="ellipse">
            <a:avLst/>
          </a:prstGeom>
          <a:solidFill>
            <a:schemeClr val="accent1"/>
          </a:solidFill>
          <a:ln w="12700">
            <a:solidFill>
              <a:schemeClr val="accent1"/>
            </a:solidFill>
            <a:prstDash val="solid"/>
          </a:ln>
        </p:spPr>
      </p:sp>
      <p:sp>
        <p:nvSpPr>
          <p:cNvPr id="6" name="badge text 1"/>
          <p:cNvSpPr txBox="1"/>
          <p:nvPr/>
        </p:nvSpPr>
        <p:spPr>
          <a:xfrm>
            <a:off x="731520" y="1444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 title Same letter on a shared wire"/>
          <p:cNvSpPr txBox="1"/>
          <p:nvPr/>
        </p:nvSpPr>
        <p:spPr>
          <a:xfrm>
            <a:off x="1207008" y="1426464"/>
            <a:ext cx="2743200" cy="420624"/>
          </a:xfrm>
          <a:prstGeom prst="rect">
            <a:avLst/>
          </a:prstGeom>
          <a:noFill/>
          <a:ln/>
        </p:spPr>
        <p:txBody>
          <a:bodyPr wrap="square" lIns="0" tIns="0" rIns="0" bIns="0" rtlCol="0" anchor="ctr"/>
          <a:lstStyle/>
          <a:p>
            <a:pPr indent="0" marL="0">
              <a:buNone/>
            </a:pPr>
            <a:r>
              <a:rPr lang="en-US" sz="1600" b="1" dirty="0">
                <a:solidFill>
                  <a:schemeClr val="tx1"/>
                </a:solidFill>
              </a:rPr>
              <a:t>Same letter on a shared wire</a:t>
            </a:r>
            <a:endParaRPr lang="en-US" sz="1600" dirty="0"/>
          </a:p>
        </p:txBody>
      </p:sp>
      <p:sp>
        <p:nvSpPr>
          <p:cNvPr id="8" name="card body Same letter on a shared wire"/>
          <p:cNvSpPr txBox="1"/>
          <p:nvPr/>
        </p:nvSpPr>
        <p:spPr>
          <a:xfrm>
            <a:off x="749808" y="1965960"/>
            <a:ext cx="3163824" cy="141732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Both gates commute with that Pauli, so both are block diagonal in its eigenbasis on that wire.</a:t>
            </a:r>
            <a:endParaRPr lang="en-US" sz="1300" dirty="0"/>
          </a:p>
          <a:p>
            <a:pPr indent="0" marL="0">
              <a:spcAft>
                <a:spcPts val="500"/>
              </a:spcAft>
              <a:buNone/>
            </a:pPr>
            <a:r>
              <a:rPr lang="en-US" sz="1300" dirty="0">
                <a:solidFill>
                  <a:schemeClr val="tx1"/>
                </a:solidFill>
              </a:rPr>
              <a:t>Example: RZ and CP both commute with Z on wire a.</a:t>
            </a:r>
            <a:endParaRPr lang="en-US" sz="1300" dirty="0"/>
          </a:p>
        </p:txBody>
      </p:sp>
      <p:sp>
        <p:nvSpPr>
          <p:cNvPr id="9" name="card Fix every shared wire"/>
          <p:cNvSpPr/>
          <p:nvPr/>
        </p:nvSpPr>
        <p:spPr>
          <a:xfrm>
            <a:off x="4315968" y="1280160"/>
            <a:ext cx="3566160" cy="2194560"/>
          </a:xfrm>
          <a:prstGeom prst="roundRect">
            <a:avLst>
              <a:gd name="adj" fmla="val 5000"/>
            </a:avLst>
          </a:prstGeom>
          <a:solidFill>
            <a:schemeClr val="bg2"/>
          </a:solidFill>
          <a:ln w="12700">
            <a:solidFill>
              <a:schemeClr val="bg2"/>
            </a:solidFill>
            <a:prstDash val="solid"/>
          </a:ln>
        </p:spPr>
      </p:sp>
      <p:sp>
        <p:nvSpPr>
          <p:cNvPr id="10" name="badge 2"/>
          <p:cNvSpPr/>
          <p:nvPr/>
        </p:nvSpPr>
        <p:spPr>
          <a:xfrm>
            <a:off x="4498848" y="1444752"/>
            <a:ext cx="384048" cy="384048"/>
          </a:xfrm>
          <a:prstGeom prst="ellipse">
            <a:avLst/>
          </a:prstGeom>
          <a:solidFill>
            <a:schemeClr val="accent1"/>
          </a:solidFill>
          <a:ln w="12700">
            <a:solidFill>
              <a:schemeClr val="accent1"/>
            </a:solidFill>
            <a:prstDash val="solid"/>
          </a:ln>
        </p:spPr>
      </p:sp>
      <p:sp>
        <p:nvSpPr>
          <p:cNvPr id="11" name="badge text 2"/>
          <p:cNvSpPr txBox="1"/>
          <p:nvPr/>
        </p:nvSpPr>
        <p:spPr>
          <a:xfrm>
            <a:off x="4498848" y="1444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rd title Fix every shared wire"/>
          <p:cNvSpPr txBox="1"/>
          <p:nvPr/>
        </p:nvSpPr>
        <p:spPr>
          <a:xfrm>
            <a:off x="4974336" y="1426464"/>
            <a:ext cx="2743200" cy="420624"/>
          </a:xfrm>
          <a:prstGeom prst="rect">
            <a:avLst/>
          </a:prstGeom>
          <a:noFill/>
          <a:ln/>
        </p:spPr>
        <p:txBody>
          <a:bodyPr wrap="square" lIns="0" tIns="0" rIns="0" bIns="0" rtlCol="0" anchor="ctr"/>
          <a:lstStyle/>
          <a:p>
            <a:pPr indent="0" marL="0">
              <a:buNone/>
            </a:pPr>
            <a:r>
              <a:rPr lang="en-US" sz="1600" b="1" dirty="0">
                <a:solidFill>
                  <a:schemeClr val="tx1"/>
                </a:solidFill>
              </a:rPr>
              <a:t>Fix every shared wire</a:t>
            </a:r>
            <a:endParaRPr lang="en-US" sz="1600" dirty="0"/>
          </a:p>
        </p:txBody>
      </p:sp>
      <p:sp>
        <p:nvSpPr>
          <p:cNvPr id="13" name="card body Fix every shared wire"/>
          <p:cNvSpPr txBox="1"/>
          <p:nvPr/>
        </p:nvSpPr>
        <p:spPr>
          <a:xfrm>
            <a:off x="4517136" y="1965960"/>
            <a:ext cx="3163824" cy="141732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Inside each eigenspace the two gates act only on their private qubits, which are disjoint.</a:t>
            </a:r>
            <a:endParaRPr lang="en-US" sz="1300" dirty="0"/>
          </a:p>
          <a:p>
            <a:pPr indent="0" marL="0">
              <a:spcAft>
                <a:spcPts val="500"/>
              </a:spcAft>
              <a:buNone/>
            </a:pPr>
            <a:r>
              <a:rPr lang="en-US" sz="1300" dirty="0">
                <a:solidFill>
                  <a:schemeClr val="tx1"/>
                </a:solidFill>
              </a:rPr>
              <a:t>Operations on disjoint qubits always commute.</a:t>
            </a:r>
            <a:endParaRPr lang="en-US" sz="1300" dirty="0"/>
          </a:p>
        </p:txBody>
      </p:sp>
      <p:sp>
        <p:nvSpPr>
          <p:cNvPr id="14" name="card Therefore they commute exactly"/>
          <p:cNvSpPr/>
          <p:nvPr/>
        </p:nvSpPr>
        <p:spPr>
          <a:xfrm>
            <a:off x="8083296" y="1280160"/>
            <a:ext cx="3566160" cy="2194560"/>
          </a:xfrm>
          <a:prstGeom prst="roundRect">
            <a:avLst>
              <a:gd name="adj" fmla="val 5000"/>
            </a:avLst>
          </a:prstGeom>
          <a:solidFill>
            <a:schemeClr val="bg2"/>
          </a:solidFill>
          <a:ln w="12700">
            <a:solidFill>
              <a:schemeClr val="bg2"/>
            </a:solidFill>
            <a:prstDash val="solid"/>
          </a:ln>
        </p:spPr>
      </p:sp>
      <p:sp>
        <p:nvSpPr>
          <p:cNvPr id="15" name="badge 3"/>
          <p:cNvSpPr/>
          <p:nvPr/>
        </p:nvSpPr>
        <p:spPr>
          <a:xfrm>
            <a:off x="8266176" y="1444752"/>
            <a:ext cx="384048" cy="384048"/>
          </a:xfrm>
          <a:prstGeom prst="ellipse">
            <a:avLst/>
          </a:prstGeom>
          <a:solidFill>
            <a:schemeClr val="accent1"/>
          </a:solidFill>
          <a:ln w="12700">
            <a:solidFill>
              <a:schemeClr val="accent1"/>
            </a:solidFill>
            <a:prstDash val="solid"/>
          </a:ln>
        </p:spPr>
      </p:sp>
      <p:sp>
        <p:nvSpPr>
          <p:cNvPr id="16" name="badge text 3"/>
          <p:cNvSpPr txBox="1"/>
          <p:nvPr/>
        </p:nvSpPr>
        <p:spPr>
          <a:xfrm>
            <a:off x="8266176" y="1444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ard title Therefore they commute exactly"/>
          <p:cNvSpPr txBox="1"/>
          <p:nvPr/>
        </p:nvSpPr>
        <p:spPr>
          <a:xfrm>
            <a:off x="8741664" y="1426464"/>
            <a:ext cx="2743200" cy="420624"/>
          </a:xfrm>
          <a:prstGeom prst="rect">
            <a:avLst/>
          </a:prstGeom>
          <a:noFill/>
          <a:ln/>
        </p:spPr>
        <p:txBody>
          <a:bodyPr wrap="square" lIns="0" tIns="0" rIns="0" bIns="0" rtlCol="0" anchor="ctr"/>
          <a:lstStyle/>
          <a:p>
            <a:pPr indent="0" marL="0">
              <a:buNone/>
            </a:pPr>
            <a:r>
              <a:rPr lang="en-US" sz="1600" b="1" dirty="0">
                <a:solidFill>
                  <a:schemeClr val="tx1"/>
                </a:solidFill>
              </a:rPr>
              <a:t>Therefore they commute exactly</a:t>
            </a:r>
            <a:endParaRPr lang="en-US" sz="1600" dirty="0"/>
          </a:p>
        </p:txBody>
      </p:sp>
      <p:sp>
        <p:nvSpPr>
          <p:cNvPr id="18" name="card body Therefore they commute exactly"/>
          <p:cNvSpPr txBox="1"/>
          <p:nvPr/>
        </p:nvSpPr>
        <p:spPr>
          <a:xfrm>
            <a:off x="8284464" y="1965960"/>
            <a:ext cx="3163824" cy="141732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No tolerance, no approximation, global phase preserved.</a:t>
            </a:r>
            <a:endParaRPr lang="en-US" sz="1300" dirty="0"/>
          </a:p>
          <a:p>
            <a:pPr indent="0" marL="0">
              <a:spcAft>
                <a:spcPts val="500"/>
              </a:spcAft>
              <a:buNone/>
            </a:pPr>
            <a:r>
              <a:rPr lang="en-US" sz="1300" dirty="0">
                <a:solidFill>
                  <a:schemeClr val="tx1"/>
                </a:solidFill>
              </a:rPr>
              <a:t>The rewritten circuit is the same unitary.</a:t>
            </a:r>
            <a:endParaRPr lang="en-US" sz="1300" dirty="0"/>
          </a:p>
        </p:txBody>
      </p:sp>
      <p:sp>
        <p:nvSpPr>
          <p:cNvPr id="19" name="rule box"/>
          <p:cNvSpPr/>
          <p:nvPr/>
        </p:nvSpPr>
        <p:spPr>
          <a:xfrm>
            <a:off x="548640" y="3703320"/>
            <a:ext cx="11094415" cy="1097280"/>
          </a:xfrm>
          <a:prstGeom prst="roundRect">
            <a:avLst>
              <a:gd name="adj" fmla="val 10000"/>
            </a:avLst>
          </a:prstGeom>
          <a:solidFill>
            <a:srgbClr val="DCEFEC"/>
          </a:solidFill>
          <a:ln w="12700">
            <a:solidFill>
              <a:srgbClr val="DCEFEC"/>
            </a:solidFill>
            <a:prstDash val="solid"/>
          </a:ln>
        </p:spPr>
      </p:sp>
      <p:sp>
        <p:nvSpPr>
          <p:cNvPr id="20" name="rule text"/>
          <p:cNvSpPr txBox="1"/>
          <p:nvPr/>
        </p:nvSpPr>
        <p:spPr>
          <a:xfrm>
            <a:off x="822960" y="3767328"/>
            <a:ext cx="10545775" cy="960120"/>
          </a:xfrm>
          <a:prstGeom prst="rect">
            <a:avLst/>
          </a:prstGeom>
          <a:noFill/>
          <a:ln/>
        </p:spPr>
        <p:txBody>
          <a:bodyPr wrap="square" lIns="0" tIns="0" rIns="0" bIns="0" rtlCol="0" anchor="ctr"/>
          <a:lstStyle/>
          <a:p>
            <a:pPr indent="0" marL="0">
              <a:buNone/>
            </a:pPr>
            <a:r>
              <a:rPr lang="en-US" sz="1500" b="1" dirty="0">
                <a:solidFill>
                  <a:schemeClr val="accent1"/>
                </a:solidFill>
              </a:rPr>
              <a:t>The rule the planner applies: </a:t>
            </a:r>
            <a:pPr indent="0" marL="0">
              <a:buNone/>
            </a:pPr>
            <a:r>
              <a:rPr lang="en-US" sz="1500" dirty="0">
                <a:solidFill>
                  <a:schemeClr val="tx1"/>
                </a:solidFill>
              </a:rPr>
              <a:t>a candidate may cross a unit when, on every wire they share, the unit's letter equals the candidate's letter on that wire, and neither letter is '-'. Gates on wires the candidate does not touch are irrelevant.</a:t>
            </a:r>
            <a:endParaRPr lang="en-US" sz="1500" dirty="0"/>
          </a:p>
        </p:txBody>
      </p:sp>
      <p:sp>
        <p:nvSpPr>
          <p:cNvPr id="21" name="card Sufficient, not necessary"/>
          <p:cNvSpPr/>
          <p:nvPr/>
        </p:nvSpPr>
        <p:spPr>
          <a:xfrm>
            <a:off x="548640" y="5029200"/>
            <a:ext cx="5394960" cy="1097280"/>
          </a:xfrm>
          <a:prstGeom prst="roundRect">
            <a:avLst>
              <a:gd name="adj" fmla="val 10000"/>
            </a:avLst>
          </a:prstGeom>
          <a:solidFill>
            <a:schemeClr val="bg2"/>
          </a:solidFill>
          <a:ln w="12700">
            <a:solidFill>
              <a:schemeClr val="bg2"/>
            </a:solidFill>
            <a:prstDash val="solid"/>
          </a:ln>
        </p:spPr>
      </p:sp>
      <p:sp>
        <p:nvSpPr>
          <p:cNvPr id="22" name="card title Sufficient, not necessary"/>
          <p:cNvSpPr txBox="1"/>
          <p:nvPr/>
        </p:nvSpPr>
        <p:spPr>
          <a:xfrm>
            <a:off x="749808" y="516636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Sufficient, not necessary</a:t>
            </a:r>
            <a:endParaRPr lang="en-US" sz="1600" dirty="0"/>
          </a:p>
        </p:txBody>
      </p:sp>
      <p:sp>
        <p:nvSpPr>
          <p:cNvPr id="23" name="card body Sufficient, not necessary"/>
          <p:cNvSpPr txBox="1"/>
          <p:nvPr/>
        </p:nvSpPr>
        <p:spPr>
          <a:xfrm>
            <a:off x="749808" y="5559552"/>
            <a:ext cx="4992624" cy="457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RXX and RYY on one pair commute, but XX and YY differ letter by letter, so the move is refused. That is accepted.</a:t>
            </a:r>
            <a:endParaRPr lang="en-US" sz="1300" dirty="0"/>
          </a:p>
        </p:txBody>
      </p:sp>
      <p:sp>
        <p:nvSpPr>
          <p:cNvPr id="24" name="card Angles are never inspected"/>
          <p:cNvSpPr/>
          <p:nvPr/>
        </p:nvSpPr>
        <p:spPr>
          <a:xfrm>
            <a:off x="6245352" y="5029200"/>
            <a:ext cx="5394960" cy="1097280"/>
          </a:xfrm>
          <a:prstGeom prst="roundRect">
            <a:avLst>
              <a:gd name="adj" fmla="val 10000"/>
            </a:avLst>
          </a:prstGeom>
          <a:solidFill>
            <a:schemeClr val="bg2"/>
          </a:solidFill>
          <a:ln w="12700">
            <a:solidFill>
              <a:schemeClr val="bg2"/>
            </a:solidFill>
            <a:prstDash val="solid"/>
          </a:ln>
        </p:spPr>
      </p:sp>
      <p:sp>
        <p:nvSpPr>
          <p:cNvPr id="25" name="card title Angles are never inspected"/>
          <p:cNvSpPr txBox="1"/>
          <p:nvPr/>
        </p:nvSpPr>
        <p:spPr>
          <a:xfrm>
            <a:off x="6446520" y="516636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Angles are never inspected</a:t>
            </a:r>
            <a:endParaRPr lang="en-US" sz="1600" dirty="0"/>
          </a:p>
        </p:txBody>
      </p:sp>
      <p:sp>
        <p:nvSpPr>
          <p:cNvPr id="26" name="card body Angles are never inspected"/>
          <p:cNvSpPr txBox="1"/>
          <p:nvPr/>
        </p:nvSpPr>
        <p:spPr>
          <a:xfrm>
            <a:off x="6446520" y="5559552"/>
            <a:ext cx="4992624" cy="45720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RY(0) is the identity, yet it keeps letter Y and blocks a Z candidate. Parameter-independent rules are the point.</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27 supported gate families</a:t>
            </a:r>
            <a:endParaRPr lang="en-US" sz="30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3017520"/>
                <a:gridCol w="822960"/>
                <a:gridCol w="3108960"/>
              </a:tblGrid>
              <a:tr h="384048">
                <a:tc>
                  <a:txBody>
                    <a:bodyPr/>
                    <a:lstStyle/>
                    <a:p>
                      <a:pPr indent="0" marL="0">
                        <a:buNone/>
                      </a:pPr>
                      <a:r>
                        <a:rPr lang="en-US" sz="1200" b="1" dirty="0">
                          <a:solidFill>
                            <a:schemeClr val="bg1"/>
                          </a:solidFill>
                        </a:rPr>
                        <a:t>Standard gate names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Letters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Why</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rz, z, s, sdg, t, tdg, p, u1</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b="1" dirty="0">
                          <a:solidFill>
                            <a:srgbClr val="0E8A7D"/>
                          </a:solidFill>
                        </a:rPr>
                        <a:t>Z</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Diagonal one-qubit gates: functions of Z</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rx, x, sx, sxdg</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b="1" dirty="0">
                          <a:solidFill>
                            <a:srgbClr val="3B6FD6"/>
                          </a:solidFill>
                        </a:rPr>
                        <a:t>X</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Functions of X</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ry, y</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b="1" dirty="0">
                          <a:solidFill>
                            <a:srgbClr val="8E55B8"/>
                          </a:solidFill>
                        </a:rPr>
                        <a:t>Y</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Functions of Y</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cz, cp, crz, cu1, cs, csdg, rzz</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b="1" dirty="0">
                          <a:solidFill>
                            <a:srgbClr val="0E8A7D"/>
                          </a:solidFill>
                        </a:rPr>
                        <a:t>ZZ</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Diagonal two-qubit gates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cx, crx, csx, rzx</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b="1" dirty="0">
                          <a:solidFill>
                            <a:schemeClr val="tx1"/>
                          </a:solidFill>
                        </a:rPr>
                        <a:t>ZX</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Z on the first argument, X on the second</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rxx</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b="1" dirty="0">
                          <a:solidFill>
                            <a:srgbClr val="3B6FD6"/>
                          </a:solidFill>
                        </a:rPr>
                        <a:t>XX</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X on both arguments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ryy</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b="1" dirty="0">
                          <a:solidFill>
                            <a:srgbClr val="8E55B8"/>
                          </a:solidFill>
                        </a:rPr>
                        <a:t>YY</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Y on both arguments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sp>
        <p:nvSpPr>
          <p:cNvPr id="5" name="card Two extra ZZ forms"/>
          <p:cNvSpPr/>
          <p:nvPr/>
        </p:nvSpPr>
        <p:spPr>
          <a:xfrm>
            <a:off x="7772400" y="1280160"/>
            <a:ext cx="3867912" cy="1554480"/>
          </a:xfrm>
          <a:prstGeom prst="roundRect">
            <a:avLst>
              <a:gd name="adj" fmla="val 7059"/>
            </a:avLst>
          </a:prstGeom>
          <a:solidFill>
            <a:schemeClr val="bg2"/>
          </a:solidFill>
          <a:ln w="12700">
            <a:solidFill>
              <a:schemeClr val="bg2"/>
            </a:solidFill>
            <a:prstDash val="solid"/>
          </a:ln>
        </p:spPr>
      </p:sp>
      <p:sp>
        <p:nvSpPr>
          <p:cNvPr id="6" name="card title Two extra ZZ forms"/>
          <p:cNvSpPr txBox="1"/>
          <p:nvPr/>
        </p:nvSpPr>
        <p:spPr>
          <a:xfrm>
            <a:off x="7973568" y="1417320"/>
            <a:ext cx="3465576" cy="365760"/>
          </a:xfrm>
          <a:prstGeom prst="rect">
            <a:avLst/>
          </a:prstGeom>
          <a:noFill/>
          <a:ln/>
        </p:spPr>
        <p:txBody>
          <a:bodyPr wrap="square" lIns="0" tIns="0" rIns="0" bIns="0" rtlCol="0" anchor="ctr"/>
          <a:lstStyle/>
          <a:p>
            <a:pPr indent="0" marL="0">
              <a:buNone/>
            </a:pPr>
            <a:r>
              <a:rPr lang="en-US" sz="1600" b="1" dirty="0">
                <a:solidFill>
                  <a:schemeClr val="accent1"/>
                </a:solidFill>
              </a:rPr>
              <a:t>Two extra ZZ forms</a:t>
            </a:r>
            <a:endParaRPr lang="en-US" sz="1600" dirty="0"/>
          </a:p>
        </p:txBody>
      </p:sp>
      <p:sp>
        <p:nvSpPr>
          <p:cNvPr id="7" name="card body Two extra ZZ forms"/>
          <p:cNvSpPr txBox="1"/>
          <p:nvPr/>
        </p:nvSpPr>
        <p:spPr>
          <a:xfrm>
            <a:off x="7973568" y="1810512"/>
            <a:ext cx="3465576" cy="91440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A genuine two-qubit UnitaryGate whose matrix has every off-diagonal entry exactly zero (1e-13 is enough to reject).</a:t>
            </a:r>
            <a:endParaRPr lang="en-US" sz="1200" dirty="0"/>
          </a:p>
          <a:p>
            <a:pPr indent="0" marL="0">
              <a:spcAft>
                <a:spcPts val="500"/>
              </a:spcAft>
              <a:buNone/>
            </a:pPr>
            <a:r>
              <a:rPr lang="en-US" sz="1200" dirty="0">
                <a:solidFill>
                  <a:schemeClr val="tx1"/>
                </a:solidFill>
              </a:rPr>
              <a:t>A recognised CX(a,b); D(b); CX(a,b) block with D a Z-letter gate, e.g. CX; RZ; CX = RZZ.</a:t>
            </a:r>
            <a:endParaRPr lang="en-US" sz="1200" dirty="0"/>
          </a:p>
        </p:txBody>
      </p:sp>
      <p:sp>
        <p:nvSpPr>
          <p:cNvPr id="8" name="card Only genuine standard gates"/>
          <p:cNvSpPr/>
          <p:nvPr/>
        </p:nvSpPr>
        <p:spPr>
          <a:xfrm>
            <a:off x="7772400" y="3017520"/>
            <a:ext cx="3867912" cy="1417320"/>
          </a:xfrm>
          <a:prstGeom prst="roundRect">
            <a:avLst>
              <a:gd name="adj" fmla="val 7742"/>
            </a:avLst>
          </a:prstGeom>
          <a:solidFill>
            <a:schemeClr val="bg2"/>
          </a:solidFill>
          <a:ln w="12700">
            <a:solidFill>
              <a:schemeClr val="bg2"/>
            </a:solidFill>
            <a:prstDash val="solid"/>
          </a:ln>
        </p:spPr>
      </p:sp>
      <p:sp>
        <p:nvSpPr>
          <p:cNvPr id="9" name="card title Only genuine standard gates"/>
          <p:cNvSpPr txBox="1"/>
          <p:nvPr/>
        </p:nvSpPr>
        <p:spPr>
          <a:xfrm>
            <a:off x="7973568" y="3154680"/>
            <a:ext cx="3465576" cy="365760"/>
          </a:xfrm>
          <a:prstGeom prst="rect">
            <a:avLst/>
          </a:prstGeom>
          <a:noFill/>
          <a:ln/>
        </p:spPr>
        <p:txBody>
          <a:bodyPr wrap="square" lIns="0" tIns="0" rIns="0" bIns="0" rtlCol="0" anchor="ctr"/>
          <a:lstStyle/>
          <a:p>
            <a:pPr indent="0" marL="0">
              <a:buNone/>
            </a:pPr>
            <a:r>
              <a:rPr lang="en-US" sz="1600" b="1" dirty="0">
                <a:solidFill>
                  <a:schemeClr val="accent1"/>
                </a:solidFill>
              </a:rPr>
              <a:t>Only genuine standard gates</a:t>
            </a:r>
            <a:endParaRPr lang="en-US" sz="1600" dirty="0"/>
          </a:p>
        </p:txBody>
      </p:sp>
      <p:sp>
        <p:nvSpPr>
          <p:cNvPr id="10" name="card body Only genuine standard gates"/>
          <p:cNvSpPr txBox="1"/>
          <p:nvPr/>
        </p:nvSpPr>
        <p:spPr>
          <a:xfrm>
            <a:off x="7973568" y="3547872"/>
            <a:ext cx="3465576" cy="77724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node.is_standard_gate() must be true and the name must be in the allowlist.</a:t>
            </a:r>
            <a:endParaRPr lang="en-US" sz="1200" dirty="0"/>
          </a:p>
          <a:p>
            <a:pPr indent="0" marL="0">
              <a:spcAft>
                <a:spcPts val="500"/>
              </a:spcAft>
              <a:buNone/>
            </a:pPr>
            <a:r>
              <a:rPr lang="en-US" sz="1200" dirty="0">
                <a:solidFill>
                  <a:schemeClr val="tx1"/>
                </a:solidFill>
              </a:rPr>
              <a:t>A custom Gate named 'cx', or an open-control CX, gets '-'.</a:t>
            </a:r>
            <a:endParaRPr lang="en-US" sz="1200" dirty="0"/>
          </a:p>
        </p:txBody>
      </p:sp>
      <p:sp>
        <p:nvSpPr>
          <p:cNvPr id="11" name="card Movable versus crossable"/>
          <p:cNvSpPr/>
          <p:nvPr/>
        </p:nvSpPr>
        <p:spPr>
          <a:xfrm>
            <a:off x="7772400" y="4617720"/>
            <a:ext cx="3867912" cy="1417320"/>
          </a:xfrm>
          <a:prstGeom prst="roundRect">
            <a:avLst>
              <a:gd name="adj" fmla="val 7742"/>
            </a:avLst>
          </a:prstGeom>
          <a:solidFill>
            <a:schemeClr val="bg2"/>
          </a:solidFill>
          <a:ln w="12700">
            <a:solidFill>
              <a:schemeClr val="bg2"/>
            </a:solidFill>
            <a:prstDash val="solid"/>
          </a:ln>
        </p:spPr>
      </p:sp>
      <p:sp>
        <p:nvSpPr>
          <p:cNvPr id="12" name="card title Movable versus crossable"/>
          <p:cNvSpPr txBox="1"/>
          <p:nvPr/>
        </p:nvSpPr>
        <p:spPr>
          <a:xfrm>
            <a:off x="7973568" y="4754880"/>
            <a:ext cx="3465576" cy="365760"/>
          </a:xfrm>
          <a:prstGeom prst="rect">
            <a:avLst/>
          </a:prstGeom>
          <a:noFill/>
          <a:ln/>
        </p:spPr>
        <p:txBody>
          <a:bodyPr wrap="square" lIns="0" tIns="0" rIns="0" bIns="0" rtlCol="0" anchor="ctr"/>
          <a:lstStyle/>
          <a:p>
            <a:pPr indent="0" marL="0">
              <a:buNone/>
            </a:pPr>
            <a:r>
              <a:rPr lang="en-US" sz="1600" b="1" dirty="0">
                <a:solidFill>
                  <a:schemeClr val="accent1"/>
                </a:solidFill>
              </a:rPr>
              <a:t>Movable versus crossable</a:t>
            </a:r>
            <a:endParaRPr lang="en-US" sz="1600" dirty="0"/>
          </a:p>
        </p:txBody>
      </p:sp>
      <p:sp>
        <p:nvSpPr>
          <p:cNvPr id="13" name="card body Movable versus crossable"/>
          <p:cNvSpPr txBox="1"/>
          <p:nvPr/>
        </p:nvSpPr>
        <p:spPr>
          <a:xfrm>
            <a:off x="7973568" y="5148072"/>
            <a:ext cx="3465576" cy="77724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Two-qubit entries can be moved next to a SWAP.</a:t>
            </a:r>
            <a:endParaRPr lang="en-US" sz="1200" dirty="0"/>
          </a:p>
          <a:p>
            <a:pPr indent="0" marL="0">
              <a:spcAft>
                <a:spcPts val="500"/>
              </a:spcAft>
              <a:buNone/>
            </a:pPr>
            <a:r>
              <a:rPr lang="en-US" sz="1200" dirty="0">
                <a:solidFill>
                  <a:schemeClr val="tx1"/>
                </a:solidFill>
              </a:rPr>
              <a:t>One-qubit entries are only ever crossed.</a:t>
            </a:r>
            <a:endParaRPr lang="en-US" sz="1200" dirty="0"/>
          </a:p>
        </p:txBody>
      </p:sp>
      <p:sp>
        <p:nvSpPr>
          <p:cNvPr id="14" name="caption"/>
          <p:cNvSpPr txBox="1"/>
          <p:nvPr/>
        </p:nvSpPr>
        <p:spPr>
          <a:xfrm>
            <a:off x="548640" y="4663440"/>
            <a:ext cx="6949440" cy="731520"/>
          </a:xfrm>
          <a:prstGeom prst="rect">
            <a:avLst/>
          </a:prstGeom>
          <a:noFill/>
          <a:ln/>
        </p:spPr>
        <p:txBody>
          <a:bodyPr wrap="square" lIns="0" tIns="0" rIns="0" bIns="0" rtlCol="0" anchor="t"/>
          <a:lstStyle/>
          <a:p>
            <a:pPr indent="0" marL="0">
              <a:buNone/>
            </a:pPr>
            <a:r>
              <a:rPr lang="en-US" sz="1300" dirty="0">
                <a:solidFill>
                  <a:schemeClr val="accent5"/>
                </a:solidFill>
              </a:rPr>
              <a:t>Extra entries in the commutation table do not enlarge this set: the allowlist is checked before any lookup, so new table coverage can never enable new moves by accident.</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How a node gets its letters: _wire_paulis</a:t>
            </a:r>
            <a:endParaRPr lang="en-US" sz="3000" dirty="0"/>
          </a:p>
        </p:txBody>
      </p:sp>
      <p:pic>
        <p:nvPicPr>
          <p:cNvPr id="4" name="09_classification_flow" descr="/private/tmp/claude-501/-Users-ophir-PycharmProjects-qiskit-swap-absorption/0081b426-35e2-4c6c-a613-c495a6fcf015/scratchpad/work/svg_out/09_classification_flow.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248" y="1188720"/>
            <a:ext cx="10363200" cy="3886200"/>
          </a:xfrm>
          <a:prstGeom prst="rect">
            <a:avLst/>
          </a:prstGeom>
        </p:spPr>
      </p:pic>
      <p:sp>
        <p:nvSpPr>
          <p:cNvPr id="5" name="code card"/>
          <p:cNvSpPr/>
          <p:nvPr/>
        </p:nvSpPr>
        <p:spPr>
          <a:xfrm>
            <a:off x="548640" y="5257800"/>
            <a:ext cx="11094415" cy="1005840"/>
          </a:xfrm>
          <a:prstGeom prst="roundRect">
            <a:avLst>
              <a:gd name="adj" fmla="val 9091"/>
            </a:avLst>
          </a:prstGeom>
          <a:solidFill>
            <a:schemeClr val="bg2"/>
          </a:solidFill>
          <a:ln w="12700">
            <a:solidFill>
              <a:schemeClr val="bg2"/>
            </a:solidFill>
            <a:prstDash val="solid"/>
          </a:ln>
        </p:spPr>
      </p:sp>
      <p:sp>
        <p:nvSpPr>
          <p:cNvPr id="6" name="code"/>
          <p:cNvSpPr txBox="1"/>
          <p:nvPr/>
        </p:nvSpPr>
        <p:spPr>
          <a:xfrm>
            <a:off x="731520" y="5394960"/>
            <a:ext cx="10728655" cy="731520"/>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def _wire_paulis(node: DAGOpNode, cache: dict | None = None) -&gt; str:</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 returns one letter per qubit of node; '-' means no rule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 standard gate -&gt; allowlist -&gt; cache[(name, width)] -&gt; _standard_wire_paulis(op, width)</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 UnitaryGate, 2 qubits, exactly diagonal -&gt; 'ZZ'      anything else -&gt; '-' * width</a:t>
            </a:r>
            <a:endParaRPr lang="en-US" sz="10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three constants and the probe: _standard_wire_paulis</a:t>
            </a:r>
            <a:endParaRPr lang="en-US" sz="3000" dirty="0"/>
          </a:p>
        </p:txBody>
      </p:sp>
      <p:pic>
        <p:nvPicPr>
          <p:cNvPr id="4" name="10_probe_example" descr="/private/tmp/claude-501/-Users-ophir-PycharmProjects-qiskit-swap-absorption/0081b426-35e2-4c6c-a613-c495a6fcf015/scratchpad/work/svg_out/10_probe_exampl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1333" y="1188720"/>
            <a:ext cx="10189029" cy="3566160"/>
          </a:xfrm>
          <a:prstGeom prst="rect">
            <a:avLst/>
          </a:prstGeom>
        </p:spPr>
      </p:pic>
      <p:sp>
        <p:nvSpPr>
          <p:cNvPr id="5" name="card _SUPPORTED_GATES"/>
          <p:cNvSpPr/>
          <p:nvPr/>
        </p:nvSpPr>
        <p:spPr>
          <a:xfrm>
            <a:off x="548640" y="4983480"/>
            <a:ext cx="3566160" cy="1280160"/>
          </a:xfrm>
          <a:prstGeom prst="roundRect">
            <a:avLst>
              <a:gd name="adj" fmla="val 8571"/>
            </a:avLst>
          </a:prstGeom>
          <a:solidFill>
            <a:schemeClr val="bg2"/>
          </a:solidFill>
          <a:ln w="12700">
            <a:solidFill>
              <a:schemeClr val="bg2"/>
            </a:solidFill>
            <a:prstDash val="solid"/>
          </a:ln>
        </p:spPr>
      </p:sp>
      <p:sp>
        <p:nvSpPr>
          <p:cNvPr id="6" name="card title _SUPPORTED_GATES"/>
          <p:cNvSpPr txBox="1"/>
          <p:nvPr/>
        </p:nvSpPr>
        <p:spPr>
          <a:xfrm>
            <a:off x="749808" y="5120640"/>
            <a:ext cx="3163824" cy="365760"/>
          </a:xfrm>
          <a:prstGeom prst="rect">
            <a:avLst/>
          </a:prstGeom>
          <a:noFill/>
          <a:ln/>
        </p:spPr>
        <p:txBody>
          <a:bodyPr wrap="square" lIns="0" tIns="0" rIns="0" bIns="0" rtlCol="0" anchor="ctr"/>
          <a:lstStyle/>
          <a:p>
            <a:pPr indent="0" marL="0">
              <a:buNone/>
            </a:pPr>
            <a:r>
              <a:rPr lang="en-US" sz="1400" b="1" dirty="0">
                <a:solidFill>
                  <a:schemeClr val="accent1"/>
                </a:solidFill>
              </a:rPr>
              <a:t>_SUPPORTED_GATES</a:t>
            </a:r>
            <a:endParaRPr lang="en-US" sz="1400" dirty="0"/>
          </a:p>
        </p:txBody>
      </p:sp>
      <p:sp>
        <p:nvSpPr>
          <p:cNvPr id="7" name="card body _SUPPORTED_GATES"/>
          <p:cNvSpPr txBox="1"/>
          <p:nvPr/>
        </p:nvSpPr>
        <p:spPr>
          <a:xfrm>
            <a:off x="749808" y="5513832"/>
            <a:ext cx="3163824" cy="6400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frozenset of the 27 names. Checked before any lookup, so table coverage alone can never admit a new gate.</a:t>
            </a:r>
            <a:endParaRPr lang="en-US" sz="1200" dirty="0"/>
          </a:p>
        </p:txBody>
      </p:sp>
      <p:sp>
        <p:nvSpPr>
          <p:cNvPr id="8" name="card _PAULI_PROBES"/>
          <p:cNvSpPr/>
          <p:nvPr/>
        </p:nvSpPr>
        <p:spPr>
          <a:xfrm>
            <a:off x="4315968" y="4983480"/>
            <a:ext cx="3566160" cy="1280160"/>
          </a:xfrm>
          <a:prstGeom prst="roundRect">
            <a:avLst>
              <a:gd name="adj" fmla="val 8571"/>
            </a:avLst>
          </a:prstGeom>
          <a:solidFill>
            <a:schemeClr val="bg2"/>
          </a:solidFill>
          <a:ln w="12700">
            <a:solidFill>
              <a:schemeClr val="bg2"/>
            </a:solidFill>
            <a:prstDash val="solid"/>
          </a:ln>
        </p:spPr>
      </p:sp>
      <p:sp>
        <p:nvSpPr>
          <p:cNvPr id="9" name="card title _PAULI_PROBES"/>
          <p:cNvSpPr txBox="1"/>
          <p:nvPr/>
        </p:nvSpPr>
        <p:spPr>
          <a:xfrm>
            <a:off x="4517136" y="5120640"/>
            <a:ext cx="3163824" cy="365760"/>
          </a:xfrm>
          <a:prstGeom prst="rect">
            <a:avLst/>
          </a:prstGeom>
          <a:noFill/>
          <a:ln/>
        </p:spPr>
        <p:txBody>
          <a:bodyPr wrap="square" lIns="0" tIns="0" rIns="0" bIns="0" rtlCol="0" anchor="ctr"/>
          <a:lstStyle/>
          <a:p>
            <a:pPr indent="0" marL="0">
              <a:buNone/>
            </a:pPr>
            <a:r>
              <a:rPr lang="en-US" sz="1400" b="1" dirty="0">
                <a:solidFill>
                  <a:schemeClr val="accent1"/>
                </a:solidFill>
              </a:rPr>
              <a:t>_PAULI_PROBES</a:t>
            </a:r>
            <a:endParaRPr lang="en-US" sz="1400" dirty="0"/>
          </a:p>
        </p:txBody>
      </p:sp>
      <p:sp>
        <p:nvSpPr>
          <p:cNvPr id="10" name="card body _PAULI_PROBES"/>
          <p:cNvSpPr txBox="1"/>
          <p:nvPr/>
        </p:nvSpPr>
        <p:spPr>
          <a:xfrm>
            <a:off x="4517136" y="5513832"/>
            <a:ext cx="3163824" cy="6400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(('X', XGate()), ('Y', YGate()), ('Z', ZGate())): the three questions asked on every local wire.</a:t>
            </a:r>
            <a:endParaRPr lang="en-US" sz="1200" dirty="0"/>
          </a:p>
        </p:txBody>
      </p:sp>
      <p:sp>
        <p:nvSpPr>
          <p:cNvPr id="11" name="card _LOOKUP_REPRESENTATIVES"/>
          <p:cNvSpPr/>
          <p:nvPr/>
        </p:nvSpPr>
        <p:spPr>
          <a:xfrm>
            <a:off x="8083296" y="4983480"/>
            <a:ext cx="3566160" cy="1280160"/>
          </a:xfrm>
          <a:prstGeom prst="roundRect">
            <a:avLst>
              <a:gd name="adj" fmla="val 8571"/>
            </a:avLst>
          </a:prstGeom>
          <a:solidFill>
            <a:schemeClr val="bg2"/>
          </a:solidFill>
          <a:ln w="12700">
            <a:solidFill>
              <a:schemeClr val="bg2"/>
            </a:solidFill>
            <a:prstDash val="solid"/>
          </a:ln>
        </p:spPr>
      </p:sp>
      <p:sp>
        <p:nvSpPr>
          <p:cNvPr id="12" name="card title _LOOKUP_REPRESENTATIVES"/>
          <p:cNvSpPr txBox="1"/>
          <p:nvPr/>
        </p:nvSpPr>
        <p:spPr>
          <a:xfrm>
            <a:off x="8284464" y="5120640"/>
            <a:ext cx="3163824" cy="365760"/>
          </a:xfrm>
          <a:prstGeom prst="rect">
            <a:avLst/>
          </a:prstGeom>
          <a:noFill/>
          <a:ln/>
        </p:spPr>
        <p:txBody>
          <a:bodyPr wrap="square" lIns="0" tIns="0" rIns="0" bIns="0" rtlCol="0" anchor="ctr"/>
          <a:lstStyle/>
          <a:p>
            <a:pPr indent="0" marL="0">
              <a:buNone/>
            </a:pPr>
            <a:r>
              <a:rPr lang="en-US" sz="1400" b="1" dirty="0">
                <a:solidFill>
                  <a:schemeClr val="accent1"/>
                </a:solidFill>
              </a:rPr>
              <a:t>_LOOKUP_REPRESENTATIVES</a:t>
            </a:r>
            <a:endParaRPr lang="en-US" sz="1400" dirty="0"/>
          </a:p>
        </p:txBody>
      </p:sp>
      <p:sp>
        <p:nvSpPr>
          <p:cNvPr id="13" name="card body _LOOKUP_REPRESENTATIVES"/>
          <p:cNvSpPr txBox="1"/>
          <p:nvPr/>
        </p:nvSpPr>
        <p:spPr>
          <a:xfrm>
            <a:off x="8284464" y="5513832"/>
            <a:ext cx="3163824" cy="6400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rx→X, ry→Y, rz→Z, p/u1→Z, cp/cu1→CZ. Parameter-free stand-ins for the proof query; never inserted into the circuit.</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compound unit: CX, D, CX counts as one ZZ gate</a:t>
            </a:r>
            <a:endParaRPr lang="en-US" sz="3000" dirty="0"/>
          </a:p>
        </p:txBody>
      </p:sp>
      <p:pic>
        <p:nvPicPr>
          <p:cNvPr id="4" name="11_compound_unit" descr="/private/tmp/claude-501/-Users-ophir-PycharmProjects-qiskit-swap-absorption/0081b426-35e2-4c6c-a613-c495a6fcf015/scratchpad/work/svg_out/11_compound_unit.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3513231"/>
          </a:xfrm>
          <a:prstGeom prst="rect">
            <a:avLst/>
          </a:prstGeom>
        </p:spPr>
      </p:pic>
      <p:sp>
        <p:nvSpPr>
          <p:cNvPr id="5" name="card Exact conditions checked in the code"/>
          <p:cNvSpPr/>
          <p:nvPr/>
        </p:nvSpPr>
        <p:spPr>
          <a:xfrm>
            <a:off x="548640" y="4930551"/>
            <a:ext cx="5394960" cy="1325880"/>
          </a:xfrm>
          <a:prstGeom prst="roundRect">
            <a:avLst>
              <a:gd name="adj" fmla="val 8276"/>
            </a:avLst>
          </a:prstGeom>
          <a:solidFill>
            <a:schemeClr val="bg2"/>
          </a:solidFill>
          <a:ln w="12700">
            <a:solidFill>
              <a:schemeClr val="bg2"/>
            </a:solidFill>
            <a:prstDash val="solid"/>
          </a:ln>
        </p:spPr>
      </p:sp>
      <p:sp>
        <p:nvSpPr>
          <p:cNvPr id="6" name="card title Exact conditions checked in the code"/>
          <p:cNvSpPr txBox="1"/>
          <p:nvPr/>
        </p:nvSpPr>
        <p:spPr>
          <a:xfrm>
            <a:off x="749808" y="5067711"/>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Exact conditions checked in the code</a:t>
            </a:r>
            <a:endParaRPr lang="en-US" sz="1600" dirty="0"/>
          </a:p>
        </p:txBody>
      </p:sp>
      <p:sp>
        <p:nvSpPr>
          <p:cNvPr id="7" name="card body Exact conditions checked in the code"/>
          <p:cNvSpPr txBox="1"/>
          <p:nvPr/>
        </p:nvSpPr>
        <p:spPr>
          <a:xfrm>
            <a:off x="749808" y="5460903"/>
            <a:ext cx="4992624" cy="68580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First CX: standard, letters ZX. Next node on the target wire: a one-qubit node with letter Z. Next node after that on the target: a standard CX with the same (control, target). The control wire's next node after the first CX must be that same closing CX.</a:t>
            </a:r>
            <a:endParaRPr lang="en-US" sz="1200" dirty="0"/>
          </a:p>
        </p:txBody>
      </p:sp>
      <p:sp>
        <p:nvSpPr>
          <p:cNvPr id="8" name="card Why it matters"/>
          <p:cNvSpPr/>
          <p:nvPr/>
        </p:nvSpPr>
        <p:spPr>
          <a:xfrm>
            <a:off x="6245352" y="4930551"/>
            <a:ext cx="5394960" cy="1325880"/>
          </a:xfrm>
          <a:prstGeom prst="roundRect">
            <a:avLst>
              <a:gd name="adj" fmla="val 8276"/>
            </a:avLst>
          </a:prstGeom>
          <a:solidFill>
            <a:schemeClr val="bg2"/>
          </a:solidFill>
          <a:ln w="12700">
            <a:solidFill>
              <a:schemeClr val="bg2"/>
            </a:solidFill>
            <a:prstDash val="solid"/>
          </a:ln>
        </p:spPr>
      </p:sp>
      <p:sp>
        <p:nvSpPr>
          <p:cNvPr id="9" name="card title Why it matters"/>
          <p:cNvSpPr txBox="1"/>
          <p:nvPr/>
        </p:nvSpPr>
        <p:spPr>
          <a:xfrm>
            <a:off x="6446520" y="5067711"/>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Why it matters</a:t>
            </a:r>
            <a:endParaRPr lang="en-US" sz="1600" dirty="0"/>
          </a:p>
        </p:txBody>
      </p:sp>
      <p:sp>
        <p:nvSpPr>
          <p:cNvPr id="10" name="card body Why it matters"/>
          <p:cNvSpPr txBox="1"/>
          <p:nvPr/>
        </p:nvSpPr>
        <p:spPr>
          <a:xfrm>
            <a:off x="6446520" y="5460903"/>
            <a:ext cx="4992624" cy="68580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Routed circuits from Hamiltonian simulation and QAOA are full of CX-RZ-CX blocks. Treating them as one diagonal unit lets the pass pull a whole block next to a SWAP instead of only its outer CX.</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94415" cy="731520"/>
          </a:xfrm>
          <a:prstGeom prst="rect">
            <a:avLst/>
          </a:prstGeom>
          <a:noFill/>
          <a:ln/>
        </p:spPr>
        <p:txBody>
          <a:bodyPr wrap="square" lIns="0" tIns="0" rIns="0" bIns="0" rtlCol="0"/>
          <a:lstStyle/>
          <a:p>
            <a:pPr algn="l" indent="0" marL="0">
              <a:buNone/>
            </a:pPr>
            <a:r>
              <a:rPr lang="en-US" sz="2200" b="1" dirty="0">
                <a:solidFill>
                  <a:schemeClr val="accent2"/>
                </a:solidFill>
              </a:rPr>
              <a:t>Part 3b</a:t>
            </a:r>
            <a:endParaRPr lang="en-US" sz="2200" dirty="0"/>
          </a:p>
        </p:txBody>
      </p:sp>
      <p:sp>
        <p:nvSpPr>
          <p:cNvPr id="3" name="Text 0"/>
          <p:cNvSpPr/>
          <p:nvPr>
            <p:ph idx="101" type="title" hasCustomPrompt="1"/>
          </p:nvPr>
        </p:nvSpPr>
        <p:spPr>
          <a:xfrm>
            <a:off x="548640" y="2560320"/>
            <a:ext cx="11094415" cy="1280160"/>
          </a:xfrm>
          <a:prstGeom prst="rect">
            <a:avLst/>
          </a:prstGeom>
          <a:noFill/>
          <a:ln/>
        </p:spPr>
        <p:txBody>
          <a:bodyPr wrap="square" lIns="0" tIns="0" rIns="0" bIns="0" rtlCol="0"/>
          <a:lstStyle/>
          <a:p>
            <a:pPr algn="l" indent="0" marL="0">
              <a:buNone/>
            </a:pPr>
            <a:r>
              <a:rPr lang="en-US" sz="4200" b="1" dirty="0">
                <a:solidFill>
                  <a:schemeClr val="bg1"/>
                </a:solidFill>
              </a:rPr>
              <a:t>Inside _swap_absorption.py: every class and function</a:t>
            </a:r>
            <a:endParaRPr lang="en-US" sz="4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Module map: who calls whom</a:t>
            </a:r>
            <a:endParaRPr lang="en-US" sz="3000" dirty="0"/>
          </a:p>
        </p:txBody>
      </p:sp>
      <p:pic>
        <p:nvPicPr>
          <p:cNvPr id="4" name="12_call_graph" descr="/private/tmp/claude-501/-Users-ophir-PycharmProjects-qiskit-swap-absorption/0081b426-35e2-4c6c-a613-c495a6fcf015/scratchpad/work/svg_out/12_call_graph.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83216" y="1188720"/>
            <a:ext cx="9625263" cy="4572000"/>
          </a:xfrm>
          <a:prstGeom prst="rect">
            <a:avLst/>
          </a:prstGeom>
        </p:spPr>
      </p:pic>
      <p:sp>
        <p:nvSpPr>
          <p:cNvPr id="5" name="caption"/>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400" dirty="0">
                <a:solidFill>
                  <a:schemeClr val="accent5"/>
                </a:solidFill>
              </a:rPr>
              <a:t>Three public-facing facts for newcomers: the pass has no constructor options; it never recurses into control-flow blocks; it mutates and returns the DAG it was given.</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_AbsorbIntoSwaps.run: the entry point</a:t>
            </a:r>
            <a:endParaRPr lang="en-US" sz="3000" dirty="0"/>
          </a:p>
        </p:txBody>
      </p:sp>
      <p:sp>
        <p:nvSpPr>
          <p:cNvPr id="4" name="code card"/>
          <p:cNvSpPr/>
          <p:nvPr/>
        </p:nvSpPr>
        <p:spPr>
          <a:xfrm>
            <a:off x="548640" y="1280160"/>
            <a:ext cx="6035040" cy="2286000"/>
          </a:xfrm>
          <a:prstGeom prst="roundRect">
            <a:avLst>
              <a:gd name="adj" fmla="val 4000"/>
            </a:avLst>
          </a:prstGeom>
          <a:solidFill>
            <a:schemeClr val="bg2"/>
          </a:solidFill>
          <a:ln w="12700">
            <a:solidFill>
              <a:schemeClr val="bg2"/>
            </a:solidFill>
            <a:prstDash val="solid"/>
          </a:ln>
        </p:spPr>
      </p:sp>
      <p:sp>
        <p:nvSpPr>
          <p:cNvPr id="5" name="code"/>
          <p:cNvSpPr txBox="1"/>
          <p:nvPr/>
        </p:nvSpPr>
        <p:spPr>
          <a:xfrm>
            <a:off x="731520" y="1417320"/>
            <a:ext cx="5669280" cy="20116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class _AbsorbIntoSwaps(TransformationPass):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"""Move a two-qubit interaction next to a ``swap``</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on the same qubit pair."""</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def run(self, dag: DAGCircuit) -&gt; DAGCircuit: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if "swap" not in dag.count_ops(recurse=False):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return dag</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order, units, moves = _find_moves(dag)</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return (_apply_moves(dag, order, units, moves)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if moves else dag)</a:t>
            </a:r>
            <a:endParaRPr lang="en-US" sz="1200" dirty="0"/>
          </a:p>
        </p:txBody>
      </p:sp>
      <p:sp>
        <p:nvSpPr>
          <p:cNvPr id="6" name="card Fast exit"/>
          <p:cNvSpPr/>
          <p:nvPr/>
        </p:nvSpPr>
        <p:spPr>
          <a:xfrm>
            <a:off x="6858000" y="1280160"/>
            <a:ext cx="4782312" cy="1417320"/>
          </a:xfrm>
          <a:prstGeom prst="roundRect">
            <a:avLst>
              <a:gd name="adj" fmla="val 7742"/>
            </a:avLst>
          </a:prstGeom>
          <a:solidFill>
            <a:schemeClr val="bg2"/>
          </a:solidFill>
          <a:ln w="12700">
            <a:solidFill>
              <a:schemeClr val="bg2"/>
            </a:solidFill>
            <a:prstDash val="solid"/>
          </a:ln>
        </p:spPr>
      </p:sp>
      <p:sp>
        <p:nvSpPr>
          <p:cNvPr id="7" name="badge 1"/>
          <p:cNvSpPr/>
          <p:nvPr/>
        </p:nvSpPr>
        <p:spPr>
          <a:xfrm>
            <a:off x="7040880" y="1444752"/>
            <a:ext cx="384048" cy="384048"/>
          </a:xfrm>
          <a:prstGeom prst="ellipse">
            <a:avLst/>
          </a:prstGeom>
          <a:solidFill>
            <a:schemeClr val="accent1"/>
          </a:solidFill>
          <a:ln w="12700">
            <a:solidFill>
              <a:schemeClr val="accent1"/>
            </a:solidFill>
            <a:prstDash val="solid"/>
          </a:ln>
        </p:spPr>
      </p:sp>
      <p:sp>
        <p:nvSpPr>
          <p:cNvPr id="8" name="badge text 1"/>
          <p:cNvSpPr txBox="1"/>
          <p:nvPr/>
        </p:nvSpPr>
        <p:spPr>
          <a:xfrm>
            <a:off x="7040880" y="1444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card title Fast exit"/>
          <p:cNvSpPr txBox="1"/>
          <p:nvPr/>
        </p:nvSpPr>
        <p:spPr>
          <a:xfrm>
            <a:off x="7516368" y="1426464"/>
            <a:ext cx="3959352" cy="420624"/>
          </a:xfrm>
          <a:prstGeom prst="rect">
            <a:avLst/>
          </a:prstGeom>
          <a:noFill/>
          <a:ln/>
        </p:spPr>
        <p:txBody>
          <a:bodyPr wrap="square" lIns="0" tIns="0" rIns="0" bIns="0" rtlCol="0" anchor="ctr"/>
          <a:lstStyle/>
          <a:p>
            <a:pPr indent="0" marL="0">
              <a:buNone/>
            </a:pPr>
            <a:r>
              <a:rPr lang="en-US" sz="1500" b="1" dirty="0">
                <a:solidFill>
                  <a:schemeClr val="tx1"/>
                </a:solidFill>
              </a:rPr>
              <a:t>Fast exit</a:t>
            </a:r>
            <a:endParaRPr lang="en-US" sz="1500" dirty="0"/>
          </a:p>
        </p:txBody>
      </p:sp>
      <p:sp>
        <p:nvSpPr>
          <p:cNvPr id="10" name="card body Fast exit"/>
          <p:cNvSpPr txBox="1"/>
          <p:nvPr/>
        </p:nvSpPr>
        <p:spPr>
          <a:xfrm>
            <a:off x="7059168" y="1965960"/>
            <a:ext cx="4379976" cy="6400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No operation named swap at the top level → return the DAG untouched. Control-flow bodies are not searched (recurse=False).</a:t>
            </a:r>
            <a:endParaRPr lang="en-US" sz="1200" dirty="0"/>
          </a:p>
        </p:txBody>
      </p:sp>
      <p:sp>
        <p:nvSpPr>
          <p:cNvPr id="11" name="card Plan"/>
          <p:cNvSpPr/>
          <p:nvPr/>
        </p:nvSpPr>
        <p:spPr>
          <a:xfrm>
            <a:off x="6858000" y="2852928"/>
            <a:ext cx="4782312" cy="1417320"/>
          </a:xfrm>
          <a:prstGeom prst="roundRect">
            <a:avLst>
              <a:gd name="adj" fmla="val 7742"/>
            </a:avLst>
          </a:prstGeom>
          <a:solidFill>
            <a:schemeClr val="bg2"/>
          </a:solidFill>
          <a:ln w="12700">
            <a:solidFill>
              <a:schemeClr val="bg2"/>
            </a:solidFill>
            <a:prstDash val="solid"/>
          </a:ln>
        </p:spPr>
      </p:sp>
      <p:sp>
        <p:nvSpPr>
          <p:cNvPr id="12" name="badge 2"/>
          <p:cNvSpPr/>
          <p:nvPr/>
        </p:nvSpPr>
        <p:spPr>
          <a:xfrm>
            <a:off x="7040880" y="3017520"/>
            <a:ext cx="384048" cy="384048"/>
          </a:xfrm>
          <a:prstGeom prst="ellipse">
            <a:avLst/>
          </a:prstGeom>
          <a:solidFill>
            <a:schemeClr val="accent1"/>
          </a:solidFill>
          <a:ln w="12700">
            <a:solidFill>
              <a:schemeClr val="accent1"/>
            </a:solidFill>
            <a:prstDash val="solid"/>
          </a:ln>
        </p:spPr>
      </p:sp>
      <p:sp>
        <p:nvSpPr>
          <p:cNvPr id="13" name="badge text 2"/>
          <p:cNvSpPr txBox="1"/>
          <p:nvPr/>
        </p:nvSpPr>
        <p:spPr>
          <a:xfrm>
            <a:off x="7040880" y="3017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card title Plan"/>
          <p:cNvSpPr txBox="1"/>
          <p:nvPr/>
        </p:nvSpPr>
        <p:spPr>
          <a:xfrm>
            <a:off x="7516368" y="2999232"/>
            <a:ext cx="3959352" cy="420624"/>
          </a:xfrm>
          <a:prstGeom prst="rect">
            <a:avLst/>
          </a:prstGeom>
          <a:noFill/>
          <a:ln/>
        </p:spPr>
        <p:txBody>
          <a:bodyPr wrap="square" lIns="0" tIns="0" rIns="0" bIns="0" rtlCol="0" anchor="ctr"/>
          <a:lstStyle/>
          <a:p>
            <a:pPr indent="0" marL="0">
              <a:buNone/>
            </a:pPr>
            <a:r>
              <a:rPr lang="en-US" sz="1500" b="1" dirty="0">
                <a:solidFill>
                  <a:schemeClr val="tx1"/>
                </a:solidFill>
              </a:rPr>
              <a:t>Plan</a:t>
            </a:r>
            <a:endParaRPr lang="en-US" sz="1500" dirty="0"/>
          </a:p>
        </p:txBody>
      </p:sp>
      <p:sp>
        <p:nvSpPr>
          <p:cNvPr id="15" name="card body Plan"/>
          <p:cNvSpPr txBox="1"/>
          <p:nvPr/>
        </p:nvSpPr>
        <p:spPr>
          <a:xfrm>
            <a:off x="7059168" y="3538728"/>
            <a:ext cx="4379976" cy="6400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_find_moves(dag) returns the topological node list, a _Members view of the units, and the list of (unit, swap, step) moves. Read-only.</a:t>
            </a:r>
            <a:endParaRPr lang="en-US" sz="1200" dirty="0"/>
          </a:p>
        </p:txBody>
      </p:sp>
      <p:sp>
        <p:nvSpPr>
          <p:cNvPr id="16" name="card Rewrite"/>
          <p:cNvSpPr/>
          <p:nvPr/>
        </p:nvSpPr>
        <p:spPr>
          <a:xfrm>
            <a:off x="6858000" y="4425696"/>
            <a:ext cx="4782312" cy="1417320"/>
          </a:xfrm>
          <a:prstGeom prst="roundRect">
            <a:avLst>
              <a:gd name="adj" fmla="val 7742"/>
            </a:avLst>
          </a:prstGeom>
          <a:solidFill>
            <a:schemeClr val="bg2"/>
          </a:solidFill>
          <a:ln w="12700">
            <a:solidFill>
              <a:schemeClr val="bg2"/>
            </a:solidFill>
            <a:prstDash val="solid"/>
          </a:ln>
        </p:spPr>
      </p:sp>
      <p:sp>
        <p:nvSpPr>
          <p:cNvPr id="17" name="badge 3"/>
          <p:cNvSpPr/>
          <p:nvPr/>
        </p:nvSpPr>
        <p:spPr>
          <a:xfrm>
            <a:off x="7040880" y="4590288"/>
            <a:ext cx="384048" cy="384048"/>
          </a:xfrm>
          <a:prstGeom prst="ellipse">
            <a:avLst/>
          </a:prstGeom>
          <a:solidFill>
            <a:schemeClr val="accent1"/>
          </a:solidFill>
          <a:ln w="12700">
            <a:solidFill>
              <a:schemeClr val="accent1"/>
            </a:solidFill>
            <a:prstDash val="solid"/>
          </a:ln>
        </p:spPr>
      </p:sp>
      <p:sp>
        <p:nvSpPr>
          <p:cNvPr id="18" name="badge text 3"/>
          <p:cNvSpPr txBox="1"/>
          <p:nvPr/>
        </p:nvSpPr>
        <p:spPr>
          <a:xfrm>
            <a:off x="704088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card title Rewrite"/>
          <p:cNvSpPr txBox="1"/>
          <p:nvPr/>
        </p:nvSpPr>
        <p:spPr>
          <a:xfrm>
            <a:off x="7516368" y="4572000"/>
            <a:ext cx="3959352" cy="420624"/>
          </a:xfrm>
          <a:prstGeom prst="rect">
            <a:avLst/>
          </a:prstGeom>
          <a:noFill/>
          <a:ln/>
        </p:spPr>
        <p:txBody>
          <a:bodyPr wrap="square" lIns="0" tIns="0" rIns="0" bIns="0" rtlCol="0" anchor="ctr"/>
          <a:lstStyle/>
          <a:p>
            <a:pPr indent="0" marL="0">
              <a:buNone/>
            </a:pPr>
            <a:r>
              <a:rPr lang="en-US" sz="1500" b="1" dirty="0">
                <a:solidFill>
                  <a:schemeClr val="tx1"/>
                </a:solidFill>
              </a:rPr>
              <a:t>Rewrite</a:t>
            </a:r>
            <a:endParaRPr lang="en-US" sz="1500" dirty="0"/>
          </a:p>
        </p:txBody>
      </p:sp>
      <p:sp>
        <p:nvSpPr>
          <p:cNvPr id="20" name="card body Rewrite"/>
          <p:cNvSpPr txBox="1"/>
          <p:nvPr/>
        </p:nvSpPr>
        <p:spPr>
          <a:xfrm>
            <a:off x="7059168" y="5111496"/>
            <a:ext cx="4379976" cy="6400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_apply_moves removes the chosen units and re-inserts each one glued to its SWAP. Returns the same DAG object.</a:t>
            </a:r>
            <a:endParaRPr lang="en-US" sz="1200" dirty="0"/>
          </a:p>
        </p:txBody>
      </p:sp>
      <p:sp>
        <p:nvSpPr>
          <p:cNvPr id="21" name="card For readers new to Qiskit passes"/>
          <p:cNvSpPr/>
          <p:nvPr/>
        </p:nvSpPr>
        <p:spPr>
          <a:xfrm>
            <a:off x="548640" y="3794760"/>
            <a:ext cx="6035040" cy="2331720"/>
          </a:xfrm>
          <a:prstGeom prst="roundRect">
            <a:avLst>
              <a:gd name="adj" fmla="val 4706"/>
            </a:avLst>
          </a:prstGeom>
          <a:solidFill>
            <a:schemeClr val="bg2"/>
          </a:solidFill>
          <a:ln w="12700">
            <a:solidFill>
              <a:schemeClr val="bg2"/>
            </a:solidFill>
            <a:prstDash val="solid"/>
          </a:ln>
        </p:spPr>
      </p:sp>
      <p:sp>
        <p:nvSpPr>
          <p:cNvPr id="22" name="card title For readers new to Qiskit passes"/>
          <p:cNvSpPr txBox="1"/>
          <p:nvPr/>
        </p:nvSpPr>
        <p:spPr>
          <a:xfrm>
            <a:off x="749808" y="3931920"/>
            <a:ext cx="5632704" cy="365760"/>
          </a:xfrm>
          <a:prstGeom prst="rect">
            <a:avLst/>
          </a:prstGeom>
          <a:noFill/>
          <a:ln/>
        </p:spPr>
        <p:txBody>
          <a:bodyPr wrap="square" lIns="0" tIns="0" rIns="0" bIns="0" rtlCol="0" anchor="ctr"/>
          <a:lstStyle/>
          <a:p>
            <a:pPr indent="0" marL="0">
              <a:buNone/>
            </a:pPr>
            <a:r>
              <a:rPr lang="en-US" sz="1600" b="1" dirty="0">
                <a:solidFill>
                  <a:schemeClr val="accent1"/>
                </a:solidFill>
              </a:rPr>
              <a:t>For readers new to Qiskit passes</a:t>
            </a:r>
            <a:endParaRPr lang="en-US" sz="1600" dirty="0"/>
          </a:p>
        </p:txBody>
      </p:sp>
      <p:sp>
        <p:nvSpPr>
          <p:cNvPr id="23" name="card body For readers new to Qiskit passes"/>
          <p:cNvSpPr txBox="1"/>
          <p:nvPr/>
        </p:nvSpPr>
        <p:spPr>
          <a:xfrm>
            <a:off x="749808" y="4325112"/>
            <a:ext cx="5632704" cy="169164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TransformationPass: a pass that may change the circuit but must keep the layout. The pass manager wires run(dag) into the pipeline.</a:t>
            </a:r>
            <a:endParaRPr lang="en-US" sz="1250" dirty="0"/>
          </a:p>
          <a:p>
            <a:pPr marL="152400" indent="-152400">
              <a:spcAft>
                <a:spcPts val="500"/>
              </a:spcAft>
              <a:buSzPct val="100000"/>
              <a:buChar char="•"/>
            </a:pPr>
            <a:r>
              <a:rPr lang="en-US" sz="1250" dirty="0">
                <a:solidFill>
                  <a:schemeClr val="tx1"/>
                </a:solidFill>
              </a:rPr>
              <a:t>DAGCircuit: Qiskit's graph form of a circuit. dag.count_ops() counts gates by name; topological_op_nodes() lists gates in dependency order.</a:t>
            </a:r>
            <a:endParaRPr lang="en-US" sz="1250" dirty="0"/>
          </a:p>
          <a:p>
            <a:pPr marL="152400" indent="-152400">
              <a:spcAft>
                <a:spcPts val="500"/>
              </a:spcAft>
              <a:buSzPct val="100000"/>
              <a:buChar char="•"/>
            </a:pPr>
            <a:r>
              <a:rPr lang="en-US" sz="1250" dirty="0">
                <a:solidFill>
                  <a:schemeClr val="tx1"/>
                </a:solidFill>
              </a:rPr>
              <a:t>No state is kept between runs: the only cache is the letter cache created inside _group_nodes for one call.</a:t>
            </a:r>
            <a:endParaRPr lang="en-US" sz="12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_find_moves: four stages and three records</a:t>
            </a:r>
            <a:endParaRPr lang="en-US" sz="3000" dirty="0"/>
          </a:p>
        </p:txBody>
      </p:sp>
      <p:pic>
        <p:nvPicPr>
          <p:cNvPr id="4" name="13_find_moves_stages" descr="/private/tmp/claude-501/-Users-ophir-PycharmProjects-qiskit-swap-absorption/0081b426-35e2-4c6c-a613-c495a6fcf015/scratchpad/work/svg_out/13_find_moves_stage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9048" y="1188720"/>
            <a:ext cx="9753600" cy="2926080"/>
          </a:xfrm>
          <a:prstGeom prst="rect">
            <a:avLst/>
          </a:prstGeom>
        </p:spPr>
      </p:pic>
      <p:sp>
        <p:nvSpPr>
          <p:cNvPr id="5" name="code card"/>
          <p:cNvSpPr/>
          <p:nvPr/>
        </p:nvSpPr>
        <p:spPr>
          <a:xfrm>
            <a:off x="548640" y="4297680"/>
            <a:ext cx="6400800" cy="2011680"/>
          </a:xfrm>
          <a:prstGeom prst="roundRect">
            <a:avLst>
              <a:gd name="adj" fmla="val 4545"/>
            </a:avLst>
          </a:prstGeom>
          <a:solidFill>
            <a:schemeClr val="bg2"/>
          </a:solidFill>
          <a:ln w="12700">
            <a:solidFill>
              <a:schemeClr val="bg2"/>
            </a:solidFill>
            <a:prstDash val="solid"/>
          </a:ln>
        </p:spPr>
      </p:sp>
      <p:sp>
        <p:nvSpPr>
          <p:cNvPr id="6" name="code"/>
          <p:cNvSpPr txBox="1"/>
          <p:nvPr/>
        </p:nvSpPr>
        <p:spPr>
          <a:xfrm>
            <a:off x="731520" y="4434840"/>
            <a:ext cx="6035040" cy="1737360"/>
          </a:xfrm>
          <a:prstGeom prst="rect">
            <a:avLst/>
          </a:prstGeom>
          <a:noFill/>
          <a:ln/>
        </p:spPr>
        <p:txBody>
          <a:bodyPr wrap="square" lIns="0" tIns="0" rIns="0" bIns="0" rtlCol="0" anchor="t"/>
          <a:lstStyle/>
          <a:p>
            <a:pPr indent="0" marL="0">
              <a:buNone/>
            </a:pPr>
            <a:r>
              <a:rPr lang="en-US" sz="950" dirty="0">
                <a:solidFill>
                  <a:schemeClr val="tx1"/>
                </a:solidFill>
                <a:latin typeface="Courier New" pitchFamily="34" charset="0"/>
                <a:ea typeface="Courier New" pitchFamily="34" charset="-122"/>
                <a:cs typeface="Courier New" pitchFamily="34" charset="-120"/>
              </a:rPr>
              <a:t>def _find_moves(dag: DAGCircuit):</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order = list(dag.topological_op_nodes())</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qubit_index = {qubit: index for index, qubit in enumerate(dag.qubits)}</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nodes = _index_nodes(order, qubit_index, dag.num_qubits())   # stage 1</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units = _group_nodes(order, nodes)                            # stage 2</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wires = _index_unit_wires(nodes, units)                       # stage 3</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moves = _select_moves(nodes, units, wires)                    # stage 4</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def qubits_for_node(node):</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return [qubit_index[qubit] for qubit in order[node].qargs]</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members = _Members(units.first_node, units.groups,</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nodes.first_qubit, nodes.second_qubit, qubits_for_node)</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return order, members, moves</a:t>
            </a:r>
            <a:endParaRPr lang="en-US" sz="95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7178040" y="4297680"/>
          <a:ext cx="4462272" cy="914400"/>
        </p:xfrm>
        <a:graphic>
          <a:graphicData uri="http://schemas.openxmlformats.org/drawingml/2006/table">
            <a:tbl>
              <a:tblPr/>
              <a:tblGrid>
                <a:gridCol w="1005840"/>
                <a:gridCol w="3456432"/>
              </a:tblGrid>
              <a:tr h="438912">
                <a:tc>
                  <a:txBody>
                    <a:bodyPr/>
                    <a:lstStyle/>
                    <a:p>
                      <a:pPr indent="0" marL="0">
                        <a:buNone/>
                      </a:pPr>
                      <a:r>
                        <a:rPr lang="en-US" sz="1200" b="1" dirty="0">
                          <a:solidFill>
                            <a:schemeClr val="bg1"/>
                          </a:solidFill>
                        </a:rPr>
                        <a:t>Return value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Meaning</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43891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order</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100" dirty="0">
                          <a:solidFill>
                            <a:schemeClr val="tx1"/>
                          </a:solidFill>
                        </a:rPr>
                        <a:t>list[DAGOpNode] in topological order; every node index refers to it</a:t>
                      </a:r>
                      <a:endParaRPr lang="en-US" sz="11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3891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members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100" dirty="0">
                          <a:solidFill>
                            <a:schemeClr val="tx1"/>
                          </a:solidFill>
                        </a:rPr>
                        <a:t>_Members: units[u] gives (member node indices, qubit index set)</a:t>
                      </a:r>
                      <a:endParaRPr lang="en-US" sz="11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3891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moves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100" dirty="0">
                          <a:solidFill>
                            <a:schemeClr val="tx1"/>
                          </a:solidFill>
                        </a:rPr>
                        <a:t>list of (unit, swap, step): step = +1 found after the SWAP, −1 before</a:t>
                      </a:r>
                      <a:endParaRPr lang="en-US" sz="11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running example used on every stage slide</a:t>
            </a:r>
            <a:endParaRPr lang="en-US" sz="3000" dirty="0"/>
          </a:p>
        </p:txBody>
      </p:sp>
      <p:pic>
        <p:nvPicPr>
          <p:cNvPr id="4" name="22_running_example" descr="/private/tmp/claude-501/-Users-ophir-PycharmProjects-qiskit-swap-absorption/0081b426-35e2-4c6c-a613-c495a6fcf015/scratchpad/work/svg_out/22_running_example.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0531" y="1188720"/>
            <a:ext cx="10370634" cy="4251960"/>
          </a:xfrm>
          <a:prstGeom prst="rect">
            <a:avLst/>
          </a:prstGeom>
        </p:spPr>
      </p:pic>
      <p:sp>
        <p:nvSpPr>
          <p:cNvPr id="5" name="code card"/>
          <p:cNvSpPr/>
          <p:nvPr/>
        </p:nvSpPr>
        <p:spPr>
          <a:xfrm>
            <a:off x="548640" y="5623560"/>
            <a:ext cx="11094415" cy="777240"/>
          </a:xfrm>
          <a:prstGeom prst="roundRect">
            <a:avLst>
              <a:gd name="adj" fmla="val 11765"/>
            </a:avLst>
          </a:prstGeom>
          <a:solidFill>
            <a:schemeClr val="bg2"/>
          </a:solidFill>
          <a:ln w="12700">
            <a:solidFill>
              <a:schemeClr val="bg2"/>
            </a:solidFill>
            <a:prstDash val="solid"/>
          </a:ln>
        </p:spPr>
      </p:sp>
      <p:sp>
        <p:nvSpPr>
          <p:cNvPr id="6" name="code"/>
          <p:cNvSpPr txBox="1"/>
          <p:nvPr/>
        </p:nvSpPr>
        <p:spPr>
          <a:xfrm>
            <a:off x="731520" y="5760720"/>
            <a:ext cx="10728655" cy="502920"/>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qc = QuantumCircuit(3); qc.swap(0, 1); qc.rz(0.2, 0); qc.cx(0, 1); qc.rz(0.5, 1); qc.cx(0, 1); qc.cx(1, 2); qc.cx(0, 2)</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order, members, moves = _find_moves(circuit_to_dag(qc))     # moves == [(2, 0, 1)]</a:t>
            </a:r>
            <a:endParaRPr lang="en-US" sz="10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1 · _index_nodes: what it builds</a:t>
            </a:r>
            <a:endParaRPr lang="en-US" sz="3000" dirty="0"/>
          </a:p>
        </p:txBody>
      </p:sp>
      <p:pic>
        <p:nvPicPr>
          <p:cNvPr id="4" name="14_index_nodes" descr="/private/tmp/claude-501/-Users-ophir-PycharmProjects-qiskit-swap-absorption/0081b426-35e2-4c6c-a613-c495a6fcf015/scratchpad/work/svg_out/14_index_node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4807580"/>
          </a:xfrm>
          <a:prstGeom prst="rect">
            <a:avLst/>
          </a:prstGeom>
        </p:spPr>
      </p:pic>
      <p:sp>
        <p:nvSpPr>
          <p:cNvPr id="5" name="caption"/>
          <p:cNvSpPr txBox="1"/>
          <p:nvPr/>
        </p:nvSpPr>
        <p:spPr>
          <a:xfrm>
            <a:off x="548640" y="6133460"/>
            <a:ext cx="11094415" cy="457200"/>
          </a:xfrm>
          <a:prstGeom prst="rect">
            <a:avLst/>
          </a:prstGeom>
          <a:noFill/>
          <a:ln/>
        </p:spPr>
        <p:txBody>
          <a:bodyPr wrap="square" lIns="0" tIns="0" rIns="0" bIns="0" rtlCol="0" anchor="t"/>
          <a:lstStyle/>
          <a:p>
            <a:pPr indent="0" marL="0">
              <a:buNone/>
            </a:pPr>
            <a:r>
              <a:rPr lang="en-US" sz="1300" dirty="0">
                <a:solidFill>
                  <a:schemeClr val="accent5"/>
                </a:solidFill>
              </a:rPr>
              <a:t>Positions are per wire. Node 3 (rz on q1) has first_position 2 because two nodes, 0 and 2, precede it on wires[1]; its second_qubit and second_position stay −1.</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1 · _index_nodes: how it works</a:t>
            </a:r>
            <a:endParaRPr lang="en-US" sz="3000" dirty="0"/>
          </a:p>
        </p:txBody>
      </p:sp>
      <p:sp>
        <p:nvSpPr>
          <p:cNvPr id="4" name="source"/>
          <p:cNvSpPr/>
          <p:nvPr/>
        </p:nvSpPr>
        <p:spPr>
          <a:xfrm>
            <a:off x="548640" y="1188720"/>
            <a:ext cx="5989320" cy="4983480"/>
          </a:xfrm>
          <a:prstGeom prst="roundRect">
            <a:avLst>
              <a:gd name="adj" fmla="val 1835"/>
            </a:avLst>
          </a:prstGeom>
          <a:solidFill>
            <a:schemeClr val="bg2"/>
          </a:solidFill>
          <a:ln w="12700">
            <a:solidFill>
              <a:schemeClr val="bg2"/>
            </a:solidFill>
            <a:prstDash val="solid"/>
          </a:ln>
        </p:spPr>
      </p:sp>
      <p:sp>
        <p:nvSpPr>
          <p:cNvPr id="5" name="source text"/>
          <p:cNvSpPr txBox="1"/>
          <p:nvPr/>
        </p:nvSpPr>
        <p:spPr>
          <a:xfrm>
            <a:off x="731520" y="1325880"/>
            <a:ext cx="5623560" cy="4709160"/>
          </a:xfrm>
          <a:prstGeom prst="rect">
            <a:avLst/>
          </a:prstGeom>
          <a:noFill/>
          <a:ln/>
        </p:spPr>
        <p:txBody>
          <a:bodyPr wrap="square" lIns="0" tIns="0" rIns="0" bIns="0" rtlCol="0" anchor="t"/>
          <a:lstStyle/>
          <a:p>
            <a:pPr indent="0" marL="0">
              <a:buNone/>
            </a:pPr>
            <a:r>
              <a:rPr lang="en-US" sz="900" dirty="0">
                <a:solidFill>
                  <a:schemeClr val="tx1"/>
                </a:solidFill>
                <a:latin typeface="Courier New" pitchFamily="34" charset="0"/>
                <a:ea typeface="Courier New" pitchFamily="34" charset="-122"/>
                <a:cs typeface="Courier New" pitchFamily="34" charset="-120"/>
              </a:rPr>
              <a:t>def _index_nodes(order, qubit_index, num_wires: int) -&gt; _NodeIndex:</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wires = [[] for _ in range(num_wires)]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last_multi = [-1] * num_wires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  # first_qubit, second_qubit, first_position, second_position:</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  # [-1] per node; widths: [0] per node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for node, op_node in enumerate(order):</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qubits = op_node.qargs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width = len(qubits)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widths[node] = width</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width == 1:</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qubit = qubit_index[qubits[0]]</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 = wires[qubit]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first_qubit[node] = qubit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first_position[node] = len(wire)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wire.append(node)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elif width == 2:</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qubit_a = qubit_index[qubits[0]]</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qubit_b = qubit_index[qubits[1]]</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wire_a = wires[qubit_a]</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wire_b = wires[qubit_b]</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first_qubit[node] = qubit_a</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second_qubit[node] = qubit_b</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first_position[node] = last_multi[qubit_a] = len(wire_a)</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second_position[node] = last_multi[qubit_b] = len(wire_b)</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wire_a.append(node)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wire_b.append(node)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else: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for qubit in qubits: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 = wires[qubit_index[qubit]]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width &gt; 1:</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last_multi[qubit_index[qubit]] = len(wire)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wire.append(node)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return _NodeIndex(wires, last_multi, first_qubit, second_qubit,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first_position, second_position, widths)</a:t>
            </a:r>
            <a:endParaRPr lang="en-US" sz="900" dirty="0"/>
          </a:p>
        </p:txBody>
      </p:sp>
      <p:sp>
        <p:nvSpPr>
          <p:cNvPr id="6" name="panel Step by step"/>
          <p:cNvSpPr/>
          <p:nvPr/>
        </p:nvSpPr>
        <p:spPr>
          <a:xfrm>
            <a:off x="6766560" y="1188720"/>
            <a:ext cx="4876495" cy="4983480"/>
          </a:xfrm>
          <a:prstGeom prst="roundRect">
            <a:avLst>
              <a:gd name="adj" fmla="val 2250"/>
            </a:avLst>
          </a:prstGeom>
          <a:solidFill>
            <a:schemeClr val="bg2"/>
          </a:solidFill>
          <a:ln w="12700">
            <a:solidFill>
              <a:schemeClr val="bg2"/>
            </a:solidFill>
            <a:prstDash val="solid"/>
          </a:ln>
        </p:spPr>
      </p:sp>
      <p:sp>
        <p:nvSpPr>
          <p:cNvPr id="7" name="panel title Step by step"/>
          <p:cNvSpPr txBox="1"/>
          <p:nvPr/>
        </p:nvSpPr>
        <p:spPr>
          <a:xfrm>
            <a:off x="6967728" y="1325880"/>
            <a:ext cx="4474159" cy="365760"/>
          </a:xfrm>
          <a:prstGeom prst="rect">
            <a:avLst/>
          </a:prstGeom>
          <a:noFill/>
          <a:ln/>
        </p:spPr>
        <p:txBody>
          <a:bodyPr wrap="square" lIns="0" tIns="0" rIns="0" bIns="0" rtlCol="0" anchor="ctr"/>
          <a:lstStyle/>
          <a:p>
            <a:pPr indent="0" marL="0">
              <a:buNone/>
            </a:pPr>
            <a:r>
              <a:rPr lang="en-US" sz="1500" b="1" dirty="0">
                <a:solidFill>
                  <a:schemeClr val="accent1"/>
                </a:solidFill>
              </a:rPr>
              <a:t>Step by step</a:t>
            </a:r>
            <a:endParaRPr lang="en-US" sz="1500" dirty="0"/>
          </a:p>
        </p:txBody>
      </p:sp>
      <p:sp>
        <p:nvSpPr>
          <p:cNvPr id="8" name="panel body Step by step"/>
          <p:cNvSpPr txBox="1"/>
          <p:nvPr/>
        </p:nvSpPr>
        <p:spPr>
          <a:xfrm>
            <a:off x="6967728" y="1737360"/>
            <a:ext cx="4474159" cy="4297680"/>
          </a:xfrm>
          <a:prstGeom prst="rect">
            <a:avLst/>
          </a:prstGeom>
          <a:noFill/>
          <a:ln/>
        </p:spPr>
        <p:txBody>
          <a:bodyPr wrap="square" lIns="0" tIns="0" rIns="0" bIns="0" rtlCol="0" anchor="t"/>
          <a:lstStyle/>
          <a:p>
            <a:pPr indent="0" marL="0">
              <a:buNone/>
            </a:pPr>
            <a:r>
              <a:rPr lang="en-US" sz="1150" b="1" dirty="0">
                <a:solidFill>
                  <a:schemeClr val="tx1"/>
                </a:solidFill>
              </a:rPr>
              <a:t>1.  One pass over order</a:t>
            </a:r>
            <a:endParaRPr lang="en-US" sz="1150" dirty="0"/>
          </a:p>
          <a:p>
            <a:pPr indent="0" marL="0">
              <a:buNone/>
            </a:pPr>
            <a:r>
              <a:rPr lang="en-US" sz="1150" dirty="0">
                <a:solidFill>
                  <a:schemeClr val="tx1"/>
                </a:solidFill>
              </a:rPr>
              <a:t>Node i is visited with its qargs. qubit_index maps each Qubit object to its integer wire number, so everything after this works on small integers.</a:t>
            </a:r>
            <a:endParaRPr lang="en-US" sz="1150" dirty="0"/>
          </a:p>
          <a:p>
            <a:pPr indent="0" marL="0">
              <a:spcBef>
                <a:spcPts val="700"/>
              </a:spcBef>
              <a:buNone/>
            </a:pPr>
            <a:r>
              <a:rPr lang="en-US" sz="1150" b="1" dirty="0">
                <a:solidFill>
                  <a:schemeClr val="tx1"/>
                </a:solidFill>
              </a:rPr>
              <a:t>2.  Width 1: one wire</a:t>
            </a:r>
            <a:endParaRPr lang="en-US" sz="1150" dirty="0"/>
          </a:p>
          <a:p>
            <a:pPr indent="0" marL="0">
              <a:buNone/>
            </a:pPr>
            <a:r>
              <a:rPr lang="en-US" sz="1150" dirty="0">
                <a:solidFill>
                  <a:schemeClr val="tx1"/>
                </a:solidFill>
              </a:rPr>
              <a:t>The qubit goes into first_qubit[i]; the position is the wire's current length, stored in first_position[i] before the node is appended to wires[q].</a:t>
            </a:r>
            <a:endParaRPr lang="en-US" sz="1150" dirty="0"/>
          </a:p>
          <a:p>
            <a:pPr indent="0" marL="0">
              <a:spcBef>
                <a:spcPts val="700"/>
              </a:spcBef>
              <a:buNone/>
            </a:pPr>
            <a:r>
              <a:rPr lang="en-US" sz="1150" b="1" dirty="0">
                <a:solidFill>
                  <a:schemeClr val="tx1"/>
                </a:solidFill>
              </a:rPr>
              <a:t>3.  Width 2: two wires and last_multi</a:t>
            </a:r>
            <a:endParaRPr lang="en-US" sz="1150" dirty="0"/>
          </a:p>
          <a:p>
            <a:pPr indent="0" marL="0">
              <a:buNone/>
            </a:pPr>
            <a:r>
              <a:rPr lang="en-US" sz="1150" dirty="0">
                <a:solidFill>
                  <a:schemeClr val="tx1"/>
                </a:solidFill>
              </a:rPr>
              <a:t>Both qubits and both positions are stored in argument order (first = qargs[0]). The same assignment updates last_multi on both wires, so after the loop it holds the position of the last multi-qubit node on each wire.</a:t>
            </a:r>
            <a:endParaRPr lang="en-US" sz="1150" dirty="0"/>
          </a:p>
          <a:p>
            <a:pPr indent="0" marL="0">
              <a:spcBef>
                <a:spcPts val="700"/>
              </a:spcBef>
              <a:buNone/>
            </a:pPr>
            <a:r>
              <a:rPr lang="en-US" sz="1150" b="1" dirty="0">
                <a:solidFill>
                  <a:schemeClr val="tx1"/>
                </a:solidFill>
              </a:rPr>
              <a:t>4.  Any other width</a:t>
            </a:r>
            <a:endParaRPr lang="en-US" sz="1150" dirty="0"/>
          </a:p>
          <a:p>
            <a:pPr indent="0" marL="0">
              <a:buNone/>
            </a:pPr>
            <a:r>
              <a:rPr lang="en-US" sz="1150" dirty="0">
                <a:solidFill>
                  <a:schemeClr val="tx1"/>
                </a:solidFill>
              </a:rPr>
              <a:t>A barrier on three qubits, a measure, a reset or a control-flow block is appended to every wire it touches and bumps last_multi when it has more than one qubit, but gets no first/second entries: they stay −1 and the node can never be a candidate.</a:t>
            </a:r>
            <a:endParaRPr lang="en-US" sz="1150" dirty="0"/>
          </a:p>
          <a:p>
            <a:pPr indent="0" marL="0">
              <a:spcBef>
                <a:spcPts val="700"/>
              </a:spcBef>
              <a:buNone/>
            </a:pPr>
            <a:r>
              <a:rPr lang="en-US" sz="1150" b="1" dirty="0">
                <a:solidFill>
                  <a:schemeClr val="tx1"/>
                </a:solidFill>
              </a:rPr>
              <a:t>5.  What this buys</a:t>
            </a:r>
            <a:endParaRPr lang="en-US" sz="1150" dirty="0"/>
          </a:p>
          <a:p>
            <a:pPr indent="0" marL="0">
              <a:buNone/>
            </a:pPr>
            <a:r>
              <a:rPr lang="en-US" sz="1150" dirty="0">
                <a:solidFill>
                  <a:schemeClr val="tx1"/>
                </a:solidFill>
              </a:rPr>
              <a:t>Every later question is an O(1) lookup: 'what follows this node on wire q' is wires[q][position + 1], and 'is there multi-qubit work after the SWAP' is a comparison with last_multi[q].</a:t>
            </a:r>
            <a:endParaRPr lang="en-US" sz="11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2 · _group_nodes: what it builds</a:t>
            </a:r>
            <a:endParaRPr lang="en-US" sz="3000" dirty="0"/>
          </a:p>
        </p:txBody>
      </p:sp>
      <p:pic>
        <p:nvPicPr>
          <p:cNvPr id="4" name="23_group_nodes" descr="/private/tmp/claude-501/-Users-ophir-PycharmProjects-qiskit-swap-absorption/0081b426-35e2-4c6c-a613-c495a6fcf015/scratchpad/work/svg_out/23_group_node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4807580"/>
          </a:xfrm>
          <a:prstGeom prst="rect">
            <a:avLst/>
          </a:prstGeom>
        </p:spPr>
      </p:pic>
      <p:sp>
        <p:nvSpPr>
          <p:cNvPr id="5" name="caption"/>
          <p:cNvSpPr txBox="1"/>
          <p:nvPr/>
        </p:nvSpPr>
        <p:spPr>
          <a:xfrm>
            <a:off x="548640" y="6133460"/>
            <a:ext cx="11094415" cy="457200"/>
          </a:xfrm>
          <a:prstGeom prst="rect">
            <a:avLst/>
          </a:prstGeom>
          <a:noFill/>
          <a:ln/>
        </p:spPr>
        <p:txBody>
          <a:bodyPr wrap="square" lIns="0" tIns="0" rIns="0" bIns="0" rtlCol="0" anchor="t"/>
          <a:lstStyle/>
          <a:p>
            <a:pPr indent="0" marL="0">
              <a:buNone/>
            </a:pPr>
            <a:r>
              <a:rPr lang="en-US" sz="1300" dirty="0">
                <a:solidFill>
                  <a:schemeClr val="accent5"/>
                </a:solidFill>
              </a:rPr>
              <a:t>Letters are per node here; stage 3 splits a unit's two letters between its two wires. The pair key ignores argument order, so cx(1, 0) and swap(0, 1) share key 1.</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2 · _group_nodes: how it works</a:t>
            </a:r>
            <a:endParaRPr lang="en-US" sz="3000" dirty="0"/>
          </a:p>
        </p:txBody>
      </p:sp>
      <p:sp>
        <p:nvSpPr>
          <p:cNvPr id="4" name="source"/>
          <p:cNvSpPr/>
          <p:nvPr/>
        </p:nvSpPr>
        <p:spPr>
          <a:xfrm>
            <a:off x="548640" y="1188720"/>
            <a:ext cx="6400800" cy="4983480"/>
          </a:xfrm>
          <a:prstGeom prst="roundRect">
            <a:avLst>
              <a:gd name="adj" fmla="val 1835"/>
            </a:avLst>
          </a:prstGeom>
          <a:solidFill>
            <a:schemeClr val="bg2"/>
          </a:solidFill>
          <a:ln w="12700">
            <a:solidFill>
              <a:schemeClr val="bg2"/>
            </a:solidFill>
            <a:prstDash val="solid"/>
          </a:ln>
        </p:spPr>
      </p:sp>
      <p:sp>
        <p:nvSpPr>
          <p:cNvPr id="5" name="source text"/>
          <p:cNvSpPr txBox="1"/>
          <p:nvPr/>
        </p:nvSpPr>
        <p:spPr>
          <a:xfrm>
            <a:off x="731520" y="1325880"/>
            <a:ext cx="6035040" cy="4709160"/>
          </a:xfrm>
          <a:prstGeom prst="rect">
            <a:avLst/>
          </a:prstGeom>
          <a:noFill/>
          <a:ln/>
        </p:spPr>
        <p:txBody>
          <a:bodyPr wrap="square" lIns="0" tIns="0" rIns="0" bIns="0" rtlCol="0" anchor="t"/>
          <a:lstStyle/>
          <a:p>
            <a:pPr indent="0" marL="0">
              <a:buNone/>
            </a:pPr>
            <a:r>
              <a:rPr lang="en-US" sz="850" dirty="0">
                <a:solidFill>
                  <a:schemeClr val="tx1"/>
                </a:solidFill>
                <a:latin typeface="Courier New" pitchFamily="34" charset="0"/>
                <a:ea typeface="Courier New" pitchFamily="34" charset="-122"/>
                <a:cs typeface="Courier New" pitchFamily="34" charset="-120"/>
              </a:rPr>
              <a:t>def _group_nodes(order, nodes: _NodeIndex) -&gt; _UnitIndex:</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cache = {}</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  # next_on_wire(qubit, position) -&gt; the node after that position, or None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  # node_to_unit = [-1] * len(order); the five output collections start empty</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for node, op_node in enumerate(order):</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node_to_unit[node] &gt;= 0:</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continue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width = nodes.widths[node]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 = _wire_paulis(op_node, cache)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unit = len(first_node)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label == "ZX" and op_node.name == "cx" and op_node.is_standard_gate():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control, target = nodes.first_qubit[node], nodes.second_qubit[node]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middle = next_on_wire(target, nodes.second_position[node])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(middle is not None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and _wire_paulis(order[middle], cache) == "Z"</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and (last := next_on_wire(target, nodes.first_position[middle])) is not None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and order[last].name == "cx" and order[last].is_standard_gate()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and nodes.first_qubit[last] == control</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and nodes.second_qubit[last] == target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and nodes.widths[last] == 2</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and next_on_wire(control, nodes.first_position[node]) == last):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groups[unit] = [node, middle, last]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node_to_unit[middle] = node_to_unit[last] = 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 = "ZZ"</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node_to_unit[node] = 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first_node.append(node)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labels.append(label)</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width == 2:</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qubit_a, qubit_b = nodes.first_qubit[node], nodes.second_qubit[node]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pair_keys.append(qubit_a * num_wires + qubit_b if qubit_a &lt; qubit_b</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else qubit_b * num_wires + qubit_a)</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op_node.name == "swap" and op_node.is_standard_gate():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swaps.append(unit)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else: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pair_keys.append(_SINGLE_QUBIT_UNIT if width == 1 else _OTHER_UNIT)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return _UnitIndex(node_to_unit, first_node, groups, labels, pair_keys, swaps)</a:t>
            </a:r>
            <a:endParaRPr lang="en-US" sz="850" dirty="0"/>
          </a:p>
        </p:txBody>
      </p:sp>
      <p:sp>
        <p:nvSpPr>
          <p:cNvPr id="6" name="panel Step by step"/>
          <p:cNvSpPr/>
          <p:nvPr/>
        </p:nvSpPr>
        <p:spPr>
          <a:xfrm>
            <a:off x="7178040" y="1188720"/>
            <a:ext cx="4465015" cy="4983480"/>
          </a:xfrm>
          <a:prstGeom prst="roundRect">
            <a:avLst>
              <a:gd name="adj" fmla="val 2458"/>
            </a:avLst>
          </a:prstGeom>
          <a:solidFill>
            <a:schemeClr val="bg2"/>
          </a:solidFill>
          <a:ln w="12700">
            <a:solidFill>
              <a:schemeClr val="bg2"/>
            </a:solidFill>
            <a:prstDash val="solid"/>
          </a:ln>
        </p:spPr>
      </p:sp>
      <p:sp>
        <p:nvSpPr>
          <p:cNvPr id="7" name="panel title Step by step"/>
          <p:cNvSpPr txBox="1"/>
          <p:nvPr/>
        </p:nvSpPr>
        <p:spPr>
          <a:xfrm>
            <a:off x="7379208" y="1325880"/>
            <a:ext cx="4062679" cy="365760"/>
          </a:xfrm>
          <a:prstGeom prst="rect">
            <a:avLst/>
          </a:prstGeom>
          <a:noFill/>
          <a:ln/>
        </p:spPr>
        <p:txBody>
          <a:bodyPr wrap="square" lIns="0" tIns="0" rIns="0" bIns="0" rtlCol="0" anchor="ctr"/>
          <a:lstStyle/>
          <a:p>
            <a:pPr indent="0" marL="0">
              <a:buNone/>
            </a:pPr>
            <a:r>
              <a:rPr lang="en-US" sz="1500" b="1" dirty="0">
                <a:solidFill>
                  <a:schemeClr val="accent1"/>
                </a:solidFill>
              </a:rPr>
              <a:t>Step by step</a:t>
            </a:r>
            <a:endParaRPr lang="en-US" sz="1500" dirty="0"/>
          </a:p>
        </p:txBody>
      </p:sp>
      <p:sp>
        <p:nvSpPr>
          <p:cNvPr id="8" name="panel body Step by step"/>
          <p:cNvSpPr txBox="1"/>
          <p:nvPr/>
        </p:nvSpPr>
        <p:spPr>
          <a:xfrm>
            <a:off x="7379208" y="1737360"/>
            <a:ext cx="4062679" cy="4297680"/>
          </a:xfrm>
          <a:prstGeom prst="rect">
            <a:avLst/>
          </a:prstGeom>
          <a:noFill/>
          <a:ln/>
        </p:spPr>
        <p:txBody>
          <a:bodyPr wrap="square" lIns="0" tIns="0" rIns="0" bIns="0" rtlCol="0" anchor="t"/>
          <a:lstStyle/>
          <a:p>
            <a:pPr indent="0" marL="0">
              <a:buNone/>
            </a:pPr>
            <a:r>
              <a:rPr lang="en-US" sz="1100" b="1" dirty="0">
                <a:solidFill>
                  <a:schemeClr val="tx1"/>
                </a:solidFill>
              </a:rPr>
              <a:t>1.  Skip members of an earlier group</a:t>
            </a:r>
            <a:endParaRPr lang="en-US" sz="1100" dirty="0"/>
          </a:p>
          <a:p>
            <a:pPr indent="0" marL="0">
              <a:buNone/>
            </a:pPr>
            <a:r>
              <a:rPr lang="en-US" sz="1100" dirty="0">
                <a:solidFill>
                  <a:schemeClr val="tx1"/>
                </a:solidFill>
              </a:rPr>
              <a:t>node_to_unit starts at −1. A node the CX·D·CX test already claimed (nodes 3 and 4 here) is skipped and never becomes a unit of its own.</a:t>
            </a:r>
            <a:endParaRPr lang="en-US" sz="1100" dirty="0"/>
          </a:p>
          <a:p>
            <a:pPr indent="0" marL="0">
              <a:spcBef>
                <a:spcPts val="700"/>
              </a:spcBef>
              <a:buNone/>
            </a:pPr>
            <a:r>
              <a:rPr lang="en-US" sz="1100" b="1" dirty="0">
                <a:solidFill>
                  <a:schemeClr val="tx1"/>
                </a:solidFill>
              </a:rPr>
              <a:t>2.  Classify through the cache</a:t>
            </a:r>
            <a:endParaRPr lang="en-US" sz="1100" dirty="0"/>
          </a:p>
          <a:p>
            <a:pPr indent="0" marL="0">
              <a:buNone/>
            </a:pPr>
            <a:r>
              <a:rPr lang="en-US" sz="1100" dirty="0">
                <a:solidFill>
                  <a:schemeClr val="tx1"/>
                </a:solidFill>
              </a:rPr>
              <a:t>_wire_paulis(node, cache) returns the letters; the cache maps (name, width) to them, so the checker is consulted once per gate kind per run.</a:t>
            </a:r>
            <a:endParaRPr lang="en-US" sz="1100" dirty="0"/>
          </a:p>
          <a:p>
            <a:pPr indent="0" marL="0">
              <a:spcBef>
                <a:spcPts val="700"/>
              </a:spcBef>
              <a:buNone/>
            </a:pPr>
            <a:r>
              <a:rPr lang="en-US" sz="1100" b="1" dirty="0">
                <a:solidFill>
                  <a:schemeClr val="tx1"/>
                </a:solidFill>
              </a:rPr>
              <a:t>3.  The CX·D·CX test</a:t>
            </a:r>
            <a:endParaRPr lang="en-US" sz="1100" dirty="0"/>
          </a:p>
          <a:p>
            <a:pPr indent="0" marL="0">
              <a:buNone/>
            </a:pPr>
            <a:r>
              <a:rPr lang="en-US" sz="1100" dirty="0">
                <a:solidFill>
                  <a:schemeClr val="tx1"/>
                </a:solidFill>
              </a:rPr>
              <a:t>Only a standard cx with letters ZX starts it. Next on the target: a one-qubit Z node; next after it on the target: a standard cx with the same control and target; next on the control after the first cx: that same closing cx. On success the three nodes share the unit, groups records them, and the letters become ZZ.</a:t>
            </a:r>
            <a:endParaRPr lang="en-US" sz="1100" dirty="0"/>
          </a:p>
          <a:p>
            <a:pPr indent="0" marL="0">
              <a:spcBef>
                <a:spcPts val="700"/>
              </a:spcBef>
              <a:buNone/>
            </a:pPr>
            <a:r>
              <a:rPr lang="en-US" sz="1100" b="1" dirty="0">
                <a:solidFill>
                  <a:schemeClr val="tx1"/>
                </a:solidFill>
              </a:rPr>
              <a:t>4.  Record the unit</a:t>
            </a:r>
            <a:endParaRPr lang="en-US" sz="1100" dirty="0"/>
          </a:p>
          <a:p>
            <a:pPr indent="0" marL="0">
              <a:buNone/>
            </a:pPr>
            <a:r>
              <a:rPr lang="en-US" sz="1100" dirty="0">
                <a:solidFill>
                  <a:schemeClr val="tx1"/>
                </a:solidFill>
              </a:rPr>
              <a:t>first_node, labels and pair_keys get one entry per unit: key min·num_wires + max for two-qubit units, −2 for one-qubit units, −1 otherwise. A genuine standard swap also joins swaps.</a:t>
            </a:r>
            <a:endParaRPr lang="en-US" sz="1100" dirty="0"/>
          </a:p>
          <a:p>
            <a:pPr indent="0" marL="0">
              <a:spcBef>
                <a:spcPts val="700"/>
              </a:spcBef>
              <a:buNone/>
            </a:pPr>
            <a:r>
              <a:rPr lang="en-US" sz="1100" b="1" dirty="0">
                <a:solidFill>
                  <a:schemeClr val="tx1"/>
                </a:solidFill>
              </a:rPr>
              <a:t>5.  Why units</a:t>
            </a:r>
            <a:endParaRPr lang="en-US" sz="1100" dirty="0"/>
          </a:p>
          <a:p>
            <a:pPr indent="0" marL="0">
              <a:buNone/>
            </a:pPr>
            <a:r>
              <a:rPr lang="en-US" sz="1100" dirty="0">
                <a:solidFill>
                  <a:schemeClr val="tx1"/>
                </a:solidFill>
              </a:rPr>
              <a:t>From here on the planner reasons about units: a candidate is a unit, a wall is a unit, and a group's three nodes move together.</a:t>
            </a:r>
            <a:endParaRPr lang="en-US" sz="11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3 · _index_unit_wires: what it builds</a:t>
            </a:r>
            <a:endParaRPr lang="en-US" sz="3000" dirty="0"/>
          </a:p>
        </p:txBody>
      </p:sp>
      <p:pic>
        <p:nvPicPr>
          <p:cNvPr id="4" name="15_index_unit_wires" descr="/private/tmp/claude-501/-Users-ophir-PycharmProjects-qiskit-swap-absorption/0081b426-35e2-4c6c-a613-c495a6fcf015/scratchpad/work/svg_out/15_index_unit_wire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4807580"/>
          </a:xfrm>
          <a:prstGeom prst="rect">
            <a:avLst/>
          </a:prstGeom>
        </p:spPr>
      </p:pic>
      <p:sp>
        <p:nvSpPr>
          <p:cNvPr id="5" name="caption"/>
          <p:cNvSpPr txBox="1"/>
          <p:nvPr/>
        </p:nvSpPr>
        <p:spPr>
          <a:xfrm>
            <a:off x="548640" y="6133460"/>
            <a:ext cx="11094415" cy="457200"/>
          </a:xfrm>
          <a:prstGeom prst="rect">
            <a:avLst/>
          </a:prstGeom>
          <a:noFill/>
          <a:ln/>
        </p:spPr>
        <p:txBody>
          <a:bodyPr wrap="square" lIns="0" tIns="0" rIns="0" bIns="0" rtlCol="0" anchor="t"/>
          <a:lstStyle/>
          <a:p>
            <a:pPr indent="0" marL="0">
              <a:buNone/>
            </a:pPr>
            <a:r>
              <a:rPr lang="en-US" sz="1300" dirty="0">
                <a:solidFill>
                  <a:schemeClr val="accent5"/>
                </a:solidFill>
              </a:rPr>
              <a:t>Positions here count merged units, not nodes. The SWAP's own letter is '-', so it starts a run of its own.</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3 · _index_unit_wires: how it works</a:t>
            </a:r>
            <a:endParaRPr lang="en-US" sz="3000" dirty="0"/>
          </a:p>
        </p:txBody>
      </p:sp>
      <p:sp>
        <p:nvSpPr>
          <p:cNvPr id="4" name="source"/>
          <p:cNvSpPr/>
          <p:nvPr/>
        </p:nvSpPr>
        <p:spPr>
          <a:xfrm>
            <a:off x="548640" y="1188720"/>
            <a:ext cx="5989320" cy="4983480"/>
          </a:xfrm>
          <a:prstGeom prst="roundRect">
            <a:avLst>
              <a:gd name="adj" fmla="val 1835"/>
            </a:avLst>
          </a:prstGeom>
          <a:solidFill>
            <a:schemeClr val="bg2"/>
          </a:solidFill>
          <a:ln w="12700">
            <a:solidFill>
              <a:schemeClr val="bg2"/>
            </a:solidFill>
            <a:prstDash val="solid"/>
          </a:ln>
        </p:spPr>
      </p:sp>
      <p:sp>
        <p:nvSpPr>
          <p:cNvPr id="5" name="source text"/>
          <p:cNvSpPr txBox="1"/>
          <p:nvPr/>
        </p:nvSpPr>
        <p:spPr>
          <a:xfrm>
            <a:off x="731520" y="1325880"/>
            <a:ext cx="5623560" cy="4709160"/>
          </a:xfrm>
          <a:prstGeom prst="rect">
            <a:avLst/>
          </a:prstGeom>
          <a:noFill/>
          <a:ln/>
        </p:spPr>
        <p:txBody>
          <a:bodyPr wrap="square" lIns="0" tIns="0" rIns="0" bIns="0" rtlCol="0" anchor="t"/>
          <a:lstStyle/>
          <a:p>
            <a:pPr indent="0" marL="0">
              <a:buNone/>
            </a:pPr>
            <a:r>
              <a:rPr lang="en-US" sz="850" dirty="0">
                <a:solidFill>
                  <a:schemeClr val="tx1"/>
                </a:solidFill>
                <a:latin typeface="Courier New" pitchFamily="34" charset="0"/>
                <a:ea typeface="Courier New" pitchFamily="34" charset="-122"/>
                <a:cs typeface="Courier New" pitchFamily="34" charset="-120"/>
              </a:rPr>
              <a:t>def _index_unit_wires(nodes: _NodeIndex, units: _UnitIndex) -&gt; _WireIndex:</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num_units = len(units.first_node)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first_position = [-1] * num_units</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second_position = [-1] * num_units</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  # sequences, wire_labels, run_starts = [], [], []</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for qubit, wire in enumerate(nodes.wires):</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  # sequence, labels, starts = [], [], []</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previous_unit = -1</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for node in wire: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unit = units.node_to_unit[node]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unit == previous_unit: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continue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previous_unit = 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position = len(sequence)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 = units.labels[unit]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head = units.first_node[unit]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units.pair_keys[unit] &gt;= 0:</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if nodes.first_qubit[head] == qubit: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first_position[unit] = position</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 = label[0]</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else: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second_position[unit] = position</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 = label[1]</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else: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 = label[0] if label else "-"</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starts.append(starts[-1] if position and labels[-1] == label</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else position)</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sequence.append(unit)</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labels.append(label)</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sequences.append(sequence)</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wire_labels.append(labels)</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run_starts.append(starts)</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return _WireIndex(sequences, wire_labels, run_starts,</a:t>
            </a:r>
            <a:endParaRPr lang="en-US" sz="850" dirty="0"/>
          </a:p>
          <a:p>
            <a:pPr indent="0" marL="0">
              <a:buNone/>
            </a:pPr>
            <a:r>
              <a:rPr lang="en-US" sz="850" dirty="0">
                <a:solidFill>
                  <a:schemeClr val="tx1"/>
                </a:solidFill>
                <a:latin typeface="Courier New" pitchFamily="34" charset="0"/>
                <a:ea typeface="Courier New" pitchFamily="34" charset="-122"/>
                <a:cs typeface="Courier New" pitchFamily="34" charset="-120"/>
              </a:rPr>
              <a:t>                      first_position, second_position)</a:t>
            </a:r>
            <a:endParaRPr lang="en-US" sz="850" dirty="0"/>
          </a:p>
        </p:txBody>
      </p:sp>
      <p:sp>
        <p:nvSpPr>
          <p:cNvPr id="6" name="panel Step by step"/>
          <p:cNvSpPr/>
          <p:nvPr/>
        </p:nvSpPr>
        <p:spPr>
          <a:xfrm>
            <a:off x="6766560" y="1188720"/>
            <a:ext cx="4876495" cy="4983480"/>
          </a:xfrm>
          <a:prstGeom prst="roundRect">
            <a:avLst>
              <a:gd name="adj" fmla="val 2250"/>
            </a:avLst>
          </a:prstGeom>
          <a:solidFill>
            <a:schemeClr val="bg2"/>
          </a:solidFill>
          <a:ln w="12700">
            <a:solidFill>
              <a:schemeClr val="bg2"/>
            </a:solidFill>
            <a:prstDash val="solid"/>
          </a:ln>
        </p:spPr>
      </p:sp>
      <p:sp>
        <p:nvSpPr>
          <p:cNvPr id="7" name="panel title Step by step"/>
          <p:cNvSpPr txBox="1"/>
          <p:nvPr/>
        </p:nvSpPr>
        <p:spPr>
          <a:xfrm>
            <a:off x="6967728" y="1325880"/>
            <a:ext cx="4474159" cy="365760"/>
          </a:xfrm>
          <a:prstGeom prst="rect">
            <a:avLst/>
          </a:prstGeom>
          <a:noFill/>
          <a:ln/>
        </p:spPr>
        <p:txBody>
          <a:bodyPr wrap="square" lIns="0" tIns="0" rIns="0" bIns="0" rtlCol="0" anchor="ctr"/>
          <a:lstStyle/>
          <a:p>
            <a:pPr indent="0" marL="0">
              <a:buNone/>
            </a:pPr>
            <a:r>
              <a:rPr lang="en-US" sz="1500" b="1" dirty="0">
                <a:solidFill>
                  <a:schemeClr val="accent1"/>
                </a:solidFill>
              </a:rPr>
              <a:t>Step by step</a:t>
            </a:r>
            <a:endParaRPr lang="en-US" sz="1500" dirty="0"/>
          </a:p>
        </p:txBody>
      </p:sp>
      <p:sp>
        <p:nvSpPr>
          <p:cNvPr id="8" name="panel body Step by step"/>
          <p:cNvSpPr txBox="1"/>
          <p:nvPr/>
        </p:nvSpPr>
        <p:spPr>
          <a:xfrm>
            <a:off x="6967728" y="1737360"/>
            <a:ext cx="4474159" cy="4297680"/>
          </a:xfrm>
          <a:prstGeom prst="rect">
            <a:avLst/>
          </a:prstGeom>
          <a:noFill/>
          <a:ln/>
        </p:spPr>
        <p:txBody>
          <a:bodyPr wrap="square" lIns="0" tIns="0" rIns="0" bIns="0" rtlCol="0" anchor="t"/>
          <a:lstStyle/>
          <a:p>
            <a:pPr indent="0" marL="0">
              <a:buNone/>
            </a:pPr>
            <a:r>
              <a:rPr lang="en-US" sz="1150" b="1" dirty="0">
                <a:solidFill>
                  <a:schemeClr val="tx1"/>
                </a:solidFill>
              </a:rPr>
              <a:t>1.  Walk each wire, merging repeats</a:t>
            </a:r>
            <a:endParaRPr lang="en-US" sz="1150" dirty="0"/>
          </a:p>
          <a:p>
            <a:pPr indent="0" marL="0">
              <a:buNone/>
            </a:pPr>
            <a:r>
              <a:rPr lang="en-US" sz="1150" dirty="0">
                <a:solidFill>
                  <a:schemeClr val="tx1"/>
                </a:solidFill>
              </a:rPr>
              <a:t>The node list of a wire is mapped node by node to units. A unit equal to the previous one is skipped, which is how the three nodes of a CX·D·CX group collapse into one position on each of their two wires.</a:t>
            </a:r>
            <a:endParaRPr lang="en-US" sz="1150" dirty="0"/>
          </a:p>
          <a:p>
            <a:pPr indent="0" marL="0">
              <a:spcBef>
                <a:spcPts val="700"/>
              </a:spcBef>
              <a:buNone/>
            </a:pPr>
            <a:r>
              <a:rPr lang="en-US" sz="1150" b="1" dirty="0">
                <a:solidFill>
                  <a:schemeClr val="tx1"/>
                </a:solidFill>
              </a:rPr>
              <a:t>2.  Pick the letter for this wire</a:t>
            </a:r>
            <a:endParaRPr lang="en-US" sz="1150" dirty="0"/>
          </a:p>
          <a:p>
            <a:pPr indent="0" marL="0">
              <a:buNone/>
            </a:pPr>
            <a:r>
              <a:rPr lang="en-US" sz="1150" dirty="0">
                <a:solidFill>
                  <a:schemeClr val="tx1"/>
                </a:solidFill>
              </a:rPr>
              <a:t>A two-qubit unit (pair key ≥ 0) contributes label[0] if this wire is its first qubit, else label[1], and its position is stored in first_position or second_position accordingly. A one-qubit unit contributes its only letter; a wider or empty unit contributes '-'.</a:t>
            </a:r>
            <a:endParaRPr lang="en-US" sz="1150" dirty="0"/>
          </a:p>
          <a:p>
            <a:pPr indent="0" marL="0">
              <a:spcBef>
                <a:spcPts val="700"/>
              </a:spcBef>
              <a:buNone/>
            </a:pPr>
            <a:r>
              <a:rPr lang="en-US" sz="1150" b="1" dirty="0">
                <a:solidFill>
                  <a:schemeClr val="tx1"/>
                </a:solidFill>
              </a:rPr>
              <a:t>3.  Extend or start a run</a:t>
            </a:r>
            <a:endParaRPr lang="en-US" sz="1150" dirty="0"/>
          </a:p>
          <a:p>
            <a:pPr indent="0" marL="0">
              <a:buNone/>
            </a:pPr>
            <a:r>
              <a:rPr lang="en-US" sz="1150" dirty="0">
                <a:solidFill>
                  <a:schemeClr val="tx1"/>
                </a:solidFill>
              </a:rPr>
              <a:t>If the letter equals the previous position's letter, the run start is inherited; otherwise the run starts at this position. One linear scan, no nested loops.</a:t>
            </a:r>
            <a:endParaRPr lang="en-US" sz="1150" dirty="0"/>
          </a:p>
          <a:p>
            <a:pPr indent="0" marL="0">
              <a:spcBef>
                <a:spcPts val="700"/>
              </a:spcBef>
              <a:buNone/>
            </a:pPr>
            <a:r>
              <a:rPr lang="en-US" sz="1150" b="1" dirty="0">
                <a:solidFill>
                  <a:schemeClr val="tx1"/>
                </a:solidFill>
              </a:rPr>
              <a:t>4.  Three parallel lists per wire</a:t>
            </a:r>
            <a:endParaRPr lang="en-US" sz="1150" dirty="0"/>
          </a:p>
          <a:p>
            <a:pPr indent="0" marL="0">
              <a:buNone/>
            </a:pPr>
            <a:r>
              <a:rPr lang="en-US" sz="1150" dirty="0">
                <a:solidFill>
                  <a:schemeClr val="tx1"/>
                </a:solidFill>
              </a:rPr>
              <a:t>sequences (unit ids), labels (one letter per position) and run_starts (one index per position) always have the same length, so a position indexes all three.</a:t>
            </a:r>
            <a:endParaRPr lang="en-US" sz="1150" dirty="0"/>
          </a:p>
          <a:p>
            <a:pPr indent="0" marL="0">
              <a:spcBef>
                <a:spcPts val="700"/>
              </a:spcBef>
              <a:buNone/>
            </a:pPr>
            <a:r>
              <a:rPr lang="en-US" sz="1150" b="1" dirty="0">
                <a:solidFill>
                  <a:schemeClr val="tx1"/>
                </a:solidFill>
              </a:rPr>
              <a:t>5.  What this buys</a:t>
            </a:r>
            <a:endParaRPr lang="en-US" sz="1150" dirty="0"/>
          </a:p>
          <a:p>
            <a:pPr indent="0" marL="0">
              <a:buNone/>
            </a:pPr>
            <a:r>
              <a:rPr lang="en-US" sz="1150" dirty="0">
                <a:solidFill>
                  <a:schemeClr val="tx1"/>
                </a:solidFill>
              </a:rPr>
              <a:t>'Do all units strictly between A and B carry letter P on this wire?' becomes two reads: the letter next to B and the run start there. commutes_between (later slide) is that check.</a:t>
            </a:r>
            <a:endParaRPr lang="en-US" sz="11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4a · reserve the neighbours a SWAP already has</a:t>
            </a:r>
            <a:endParaRPr lang="en-US" sz="3000" dirty="0"/>
          </a:p>
        </p:txBody>
      </p:sp>
      <p:pic>
        <p:nvPicPr>
          <p:cNvPr id="4" name="16_reserve_neighbours" descr="/private/tmp/claude-501/-Users-ophir-PycharmProjects-qiskit-swap-absorption/0081b426-35e2-4c6c-a613-c495a6fcf015/scratchpad/work/svg_out/16_reserve_neighbour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9999" y="1188720"/>
            <a:ext cx="10351698" cy="4572000"/>
          </a:xfrm>
          <a:prstGeom prst="rect">
            <a:avLst/>
          </a:prstGeom>
        </p:spPr>
      </p:pic>
      <p:sp>
        <p:nvSpPr>
          <p:cNvPr id="5" name="caption"/>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300" dirty="0">
                <a:solidFill>
                  <a:schemeClr val="accent5"/>
                </a:solidFill>
              </a:rPr>
              <a:t>Reserving first protects existing partners and stops two SWAPs from claiming one unit: nothing in taken is selected in 4c.</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4a · the reserve loop: how it works</a:t>
            </a:r>
            <a:endParaRPr lang="en-US" sz="3000" dirty="0"/>
          </a:p>
        </p:txBody>
      </p:sp>
      <p:sp>
        <p:nvSpPr>
          <p:cNvPr id="4" name="source"/>
          <p:cNvSpPr/>
          <p:nvPr/>
        </p:nvSpPr>
        <p:spPr>
          <a:xfrm>
            <a:off x="548640" y="1188720"/>
            <a:ext cx="5989320" cy="4983480"/>
          </a:xfrm>
          <a:prstGeom prst="roundRect">
            <a:avLst>
              <a:gd name="adj" fmla="val 1835"/>
            </a:avLst>
          </a:prstGeom>
          <a:solidFill>
            <a:schemeClr val="bg2"/>
          </a:solidFill>
          <a:ln w="12700">
            <a:solidFill>
              <a:schemeClr val="bg2"/>
            </a:solidFill>
            <a:prstDash val="solid"/>
          </a:ln>
        </p:spPr>
      </p:sp>
      <p:sp>
        <p:nvSpPr>
          <p:cNvPr id="5" name="source text"/>
          <p:cNvSpPr txBox="1"/>
          <p:nvPr/>
        </p:nvSpPr>
        <p:spPr>
          <a:xfrm>
            <a:off x="731520" y="1325880"/>
            <a:ext cx="5623560" cy="4709160"/>
          </a:xfrm>
          <a:prstGeom prst="rect">
            <a:avLst/>
          </a:prstGeom>
          <a:noFill/>
          <a:ln/>
        </p:spPr>
        <p:txBody>
          <a:bodyPr wrap="square" lIns="0" tIns="0" rIns="0" bIns="0" rtlCol="0" anchor="t"/>
          <a:lstStyle/>
          <a:p>
            <a:pPr indent="0" marL="0">
              <a:buNone/>
            </a:pPr>
            <a:r>
              <a:rPr lang="en-US" sz="900" dirty="0">
                <a:solidFill>
                  <a:schemeClr val="tx1"/>
                </a:solidFill>
                <a:latin typeface="Courier New" pitchFamily="34" charset="0"/>
                <a:ea typeface="Courier New" pitchFamily="34" charset="-122"/>
                <a:cs typeface="Courier New" pitchFamily="34" charset="-120"/>
              </a:rPr>
              <a:t>def _select_moves(nodes: _NodeIndex, units: _UnitIndex, wires: _WireIndex):</a:t>
            </a:r>
            <a:endParaRPr lang="en-US" sz="900" dirty="0"/>
          </a:p>
          <a:p>
            <a:pPr indent="0" marL="0">
              <a:buNone/>
            </a:pP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def position_on_wire(qubit, unit):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nodes.first_qubit[units.first_node[unit]] == qubit: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return wires.first_position[unit]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return wires.second_position[unit]</a:t>
            </a:r>
            <a:endParaRPr lang="en-US" sz="900" dirty="0"/>
          </a:p>
          <a:p>
            <a:pPr indent="0" marL="0">
              <a:buNone/>
            </a:pP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  # commutes_between and splits_same_pair_run: see their own slides</a:t>
            </a:r>
            <a:endParaRPr lang="en-US" sz="900" dirty="0"/>
          </a:p>
          <a:p>
            <a:pPr indent="0" marL="0">
              <a:buNone/>
            </a:pP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taken = set()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pending = []</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for swap in units.swaps: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pair_key = units.pair_keys[swap]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head = units.first_node[swap]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qubit_a, qubit_b = nodes.first_qubit[head], nodes.second_qubit[head]</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touching = []</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for qubit, at in ((qubit_a, wires.first_position[swap]),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(qubit_b, wires.second_position[swap])):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sequence = wires.sequences[qubit]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for index in (at - 1, at + 1):</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(0 &lt;= index &lt; len(sequence)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units.pair_keys[unit := sequence[index]] == pair_key</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abs(position_on_wire(qubit_a, unit)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 wires.first_position[swap]) == 1</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abs(position_on_wire(qubit_b, unit)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 wires.second_position[swap]) == 1):</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touching.append(unit)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touching:</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taken.update(touching)</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else: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pending.append(swap)</a:t>
            </a:r>
            <a:endParaRPr lang="en-US" sz="900" dirty="0"/>
          </a:p>
        </p:txBody>
      </p:sp>
      <p:sp>
        <p:nvSpPr>
          <p:cNvPr id="6" name="panel Step by step"/>
          <p:cNvSpPr/>
          <p:nvPr/>
        </p:nvSpPr>
        <p:spPr>
          <a:xfrm>
            <a:off x="6766560" y="1188720"/>
            <a:ext cx="4876495" cy="4983480"/>
          </a:xfrm>
          <a:prstGeom prst="roundRect">
            <a:avLst>
              <a:gd name="adj" fmla="val 2250"/>
            </a:avLst>
          </a:prstGeom>
          <a:solidFill>
            <a:schemeClr val="bg2"/>
          </a:solidFill>
          <a:ln w="12700">
            <a:solidFill>
              <a:schemeClr val="bg2"/>
            </a:solidFill>
            <a:prstDash val="solid"/>
          </a:ln>
        </p:spPr>
      </p:sp>
      <p:sp>
        <p:nvSpPr>
          <p:cNvPr id="7" name="panel title Step by step"/>
          <p:cNvSpPr txBox="1"/>
          <p:nvPr/>
        </p:nvSpPr>
        <p:spPr>
          <a:xfrm>
            <a:off x="6967728" y="1325880"/>
            <a:ext cx="4474159" cy="365760"/>
          </a:xfrm>
          <a:prstGeom prst="rect">
            <a:avLst/>
          </a:prstGeom>
          <a:noFill/>
          <a:ln/>
        </p:spPr>
        <p:txBody>
          <a:bodyPr wrap="square" lIns="0" tIns="0" rIns="0" bIns="0" rtlCol="0" anchor="ctr"/>
          <a:lstStyle/>
          <a:p>
            <a:pPr indent="0" marL="0">
              <a:buNone/>
            </a:pPr>
            <a:r>
              <a:rPr lang="en-US" sz="1500" b="1" dirty="0">
                <a:solidFill>
                  <a:schemeClr val="accent1"/>
                </a:solidFill>
              </a:rPr>
              <a:t>Step by step</a:t>
            </a:r>
            <a:endParaRPr lang="en-US" sz="1500" dirty="0"/>
          </a:p>
        </p:txBody>
      </p:sp>
      <p:sp>
        <p:nvSpPr>
          <p:cNvPr id="8" name="panel body Step by step"/>
          <p:cNvSpPr txBox="1"/>
          <p:nvPr/>
        </p:nvSpPr>
        <p:spPr>
          <a:xfrm>
            <a:off x="6967728" y="1737360"/>
            <a:ext cx="4474159" cy="4297680"/>
          </a:xfrm>
          <a:prstGeom prst="rect">
            <a:avLst/>
          </a:prstGeom>
          <a:noFill/>
          <a:ln/>
        </p:spPr>
        <p:txBody>
          <a:bodyPr wrap="square" lIns="0" tIns="0" rIns="0" bIns="0" rtlCol="0" anchor="t"/>
          <a:lstStyle/>
          <a:p>
            <a:pPr indent="0" marL="0">
              <a:buNone/>
            </a:pPr>
            <a:r>
              <a:rPr lang="en-US" sz="1150" b="1" dirty="0">
                <a:solidFill>
                  <a:schemeClr val="tx1"/>
                </a:solidFill>
              </a:rPr>
              <a:t>1.  position_on_wire</a:t>
            </a:r>
            <a:endParaRPr lang="en-US" sz="1150" dirty="0"/>
          </a:p>
          <a:p>
            <a:pPr indent="0" marL="0">
              <a:buNone/>
            </a:pPr>
            <a:r>
              <a:rPr lang="en-US" sz="1150" dirty="0">
                <a:solidFill>
                  <a:schemeClr val="tx1"/>
                </a:solidFill>
              </a:rPr>
              <a:t>Given a wire and a unit, returns the unit's merged position on that wire: first_position if the wire is the unit's first qubit, else second_position. Every distance below is measured with it.</a:t>
            </a:r>
            <a:endParaRPr lang="en-US" sz="1150" dirty="0"/>
          </a:p>
          <a:p>
            <a:pPr indent="0" marL="0">
              <a:spcBef>
                <a:spcPts val="700"/>
              </a:spcBef>
              <a:buNone/>
            </a:pPr>
            <a:r>
              <a:rPr lang="en-US" sz="1150" b="1" dirty="0">
                <a:solidFill>
                  <a:schemeClr val="tx1"/>
                </a:solidFill>
              </a:rPr>
              <a:t>2.  Every SWAP, in order</a:t>
            </a:r>
            <a:endParaRPr lang="en-US" sz="1150" dirty="0"/>
          </a:p>
          <a:p>
            <a:pPr indent="0" marL="0">
              <a:buNone/>
            </a:pPr>
            <a:r>
              <a:rPr lang="en-US" sz="1150" dirty="0">
                <a:solidFill>
                  <a:schemeClr val="tx1"/>
                </a:solidFill>
              </a:rPr>
              <a:t>units.swaps lists only genuine standard swaps, numbered in topological order. For each one the loop fetches its pair key and its two qubits from its first node.</a:t>
            </a:r>
            <a:endParaRPr lang="en-US" sz="1150" dirty="0"/>
          </a:p>
          <a:p>
            <a:pPr indent="0" marL="0">
              <a:spcBef>
                <a:spcPts val="700"/>
              </a:spcBef>
              <a:buNone/>
            </a:pPr>
            <a:r>
              <a:rPr lang="en-US" sz="1150" b="1" dirty="0">
                <a:solidFill>
                  <a:schemeClr val="tx1"/>
                </a:solidFill>
              </a:rPr>
              <a:t>3.  Four candidate slots</a:t>
            </a:r>
            <a:endParaRPr lang="en-US" sz="1150" dirty="0"/>
          </a:p>
          <a:p>
            <a:pPr indent="0" marL="0">
              <a:buNone/>
            </a:pPr>
            <a:r>
              <a:rPr lang="en-US" sz="1150" dirty="0">
                <a:solidFill>
                  <a:schemeClr val="tx1"/>
                </a:solidFill>
              </a:rPr>
              <a:t>On wire a the positions at − 1 and at + 1, and the same on wire b. A slot is only considered when it is inside the wire.</a:t>
            </a:r>
            <a:endParaRPr lang="en-US" sz="1150" dirty="0"/>
          </a:p>
          <a:p>
            <a:pPr indent="0" marL="0">
              <a:spcBef>
                <a:spcPts val="700"/>
              </a:spcBef>
              <a:buNone/>
            </a:pPr>
            <a:r>
              <a:rPr lang="en-US" sz="1150" b="1" dirty="0">
                <a:solidFill>
                  <a:schemeClr val="tx1"/>
                </a:solidFill>
              </a:rPr>
              <a:t>4.  The touching test</a:t>
            </a:r>
            <a:endParaRPr lang="en-US" sz="1150" dirty="0"/>
          </a:p>
          <a:p>
            <a:pPr indent="0" marL="0">
              <a:buNone/>
            </a:pPr>
            <a:r>
              <a:rPr lang="en-US" sz="1150" dirty="0">
                <a:solidFill>
                  <a:schemeClr val="tx1"/>
                </a:solidFill>
              </a:rPr>
              <a:t>The unit in the slot must have the SWAP's pair key, and its distance from the SWAP must be exactly 1 on wire a and on wire b. The second and third conditions catch a same-pair unit that is next door on one wire but not on the other.</a:t>
            </a:r>
            <a:endParaRPr lang="en-US" sz="1150" dirty="0"/>
          </a:p>
          <a:p>
            <a:pPr indent="0" marL="0">
              <a:spcBef>
                <a:spcPts val="700"/>
              </a:spcBef>
              <a:buNone/>
            </a:pPr>
            <a:r>
              <a:rPr lang="en-US" sz="1150" b="1" dirty="0">
                <a:solidFill>
                  <a:schemeClr val="tx1"/>
                </a:solidFill>
              </a:rPr>
              <a:t>5.  taken or pending</a:t>
            </a:r>
            <a:endParaRPr lang="en-US" sz="1150" dirty="0"/>
          </a:p>
          <a:p>
            <a:pPr indent="0" marL="0">
              <a:buNone/>
            </a:pPr>
            <a:r>
              <a:rPr lang="en-US" sz="1150" dirty="0">
                <a:solidFill>
                  <a:schemeClr val="tx1"/>
                </a:solidFill>
              </a:rPr>
              <a:t>Touching units are added to taken; a SWAP without any goes to pending. Only pending SWAPs reach the guard and the walk, and nothing in taken can be chosen later.</a:t>
            </a:r>
            <a:endParaRPr lang="en-US" sz="11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4b · _select_moves: the scheduling guard</a:t>
            </a:r>
            <a:endParaRPr lang="en-US" sz="3000" dirty="0"/>
          </a:p>
        </p:txBody>
      </p:sp>
      <p:pic>
        <p:nvPicPr>
          <p:cNvPr id="4" name="24_scheduling_guard" descr="/private/tmp/claude-501/-Users-ophir-PycharmProjects-qiskit-swap-absorption/0081b426-35e2-4c6c-a613-c495a6fcf015/scratchpad/work/svg_out/24_scheduling_guard.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028" y="1188720"/>
            <a:ext cx="10835640" cy="3611880"/>
          </a:xfrm>
          <a:prstGeom prst="rect">
            <a:avLst/>
          </a:prstGeom>
        </p:spPr>
      </p:pic>
      <p:sp>
        <p:nvSpPr>
          <p:cNvPr id="5" name="card Why: profit, not correctness"/>
          <p:cNvSpPr/>
          <p:nvPr/>
        </p:nvSpPr>
        <p:spPr>
          <a:xfrm>
            <a:off x="548640" y="5029200"/>
            <a:ext cx="5394960" cy="1325880"/>
          </a:xfrm>
          <a:prstGeom prst="roundRect">
            <a:avLst>
              <a:gd name="adj" fmla="val 8276"/>
            </a:avLst>
          </a:prstGeom>
          <a:solidFill>
            <a:schemeClr val="bg2"/>
          </a:solidFill>
          <a:ln w="12700">
            <a:solidFill>
              <a:schemeClr val="bg2"/>
            </a:solidFill>
            <a:prstDash val="solid"/>
          </a:ln>
        </p:spPr>
      </p:sp>
      <p:sp>
        <p:nvSpPr>
          <p:cNvPr id="6" name="card title Why: profit, not correctness"/>
          <p:cNvSpPr txBox="1"/>
          <p:nvPr/>
        </p:nvSpPr>
        <p:spPr>
          <a:xfrm>
            <a:off x="749808" y="516636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Why: profit, not correctness</a:t>
            </a:r>
            <a:endParaRPr lang="en-US" sz="1600" dirty="0"/>
          </a:p>
        </p:txBody>
      </p:sp>
      <p:sp>
        <p:nvSpPr>
          <p:cNvPr id="7" name="card body Why: profit, not correctness"/>
          <p:cNvSpPr txBox="1"/>
          <p:nvPr/>
        </p:nvSpPr>
        <p:spPr>
          <a:xfrm>
            <a:off x="749808" y="5559552"/>
            <a:ext cx="4992624" cy="68580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A merged SWAP + unit block ends in single-qubit gates. On a wire that is otherwise idle to the end of the circuit, an as-late-as-possible schedule would stretch that idle time, so such SWAPs are left alone.</a:t>
            </a:r>
            <a:endParaRPr lang="en-US" sz="1250" dirty="0"/>
          </a:p>
        </p:txBody>
      </p:sp>
      <p:sp>
        <p:nvSpPr>
          <p:cNvPr id="8" name="card Details worth knowing"/>
          <p:cNvSpPr/>
          <p:nvPr/>
        </p:nvSpPr>
        <p:spPr>
          <a:xfrm>
            <a:off x="6245352" y="5029200"/>
            <a:ext cx="5394960" cy="1325880"/>
          </a:xfrm>
          <a:prstGeom prst="roundRect">
            <a:avLst>
              <a:gd name="adj" fmla="val 8276"/>
            </a:avLst>
          </a:prstGeom>
          <a:solidFill>
            <a:schemeClr val="bg2"/>
          </a:solidFill>
          <a:ln w="12700">
            <a:solidFill>
              <a:schemeClr val="bg2"/>
            </a:solidFill>
            <a:prstDash val="solid"/>
          </a:ln>
        </p:spPr>
      </p:sp>
      <p:sp>
        <p:nvSpPr>
          <p:cNvPr id="9" name="card title Details worth knowing"/>
          <p:cNvSpPr txBox="1"/>
          <p:nvPr/>
        </p:nvSpPr>
        <p:spPr>
          <a:xfrm>
            <a:off x="6446520" y="516636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Details worth knowing</a:t>
            </a:r>
            <a:endParaRPr lang="en-US" sz="1600" dirty="0"/>
          </a:p>
        </p:txBody>
      </p:sp>
      <p:sp>
        <p:nvSpPr>
          <p:cNvPr id="10" name="card body Details worth knowing"/>
          <p:cNvSpPr txBox="1"/>
          <p:nvPr/>
        </p:nvSpPr>
        <p:spPr>
          <a:xfrm>
            <a:off x="6446520" y="5559552"/>
            <a:ext cx="4992624" cy="68580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The guard reads the original circuit, before any move. A later same-pair interaction satisfies it on both wires. It runs only for pending SWAPs. A single-qubit gate after the SWAP does not count: last_multi ignores width-1 nodes.</a:t>
            </a:r>
            <a:endParaRPr lang="en-US" sz="12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4c · _select_moves: the walk, on the running example</a:t>
            </a:r>
            <a:endParaRPr lang="en-US" sz="3000" dirty="0"/>
          </a:p>
        </p:txBody>
      </p:sp>
      <p:pic>
        <p:nvPicPr>
          <p:cNvPr id="4" name="17_walk_accept" descr="/private/tmp/claude-501/-Users-ophir-PycharmProjects-qiskit-swap-absorption/0081b426-35e2-4c6c-a613-c495a6fcf015/scratchpad/work/svg_out/17_walk_accept.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4622673"/>
          </a:xfrm>
          <a:prstGeom prst="rect">
            <a:avLst/>
          </a:prstGeom>
        </p:spPr>
      </p:pic>
      <p:sp>
        <p:nvSpPr>
          <p:cNvPr id="5" name="caption"/>
          <p:cNvSpPr txBox="1"/>
          <p:nvPr/>
        </p:nvSpPr>
        <p:spPr>
          <a:xfrm>
            <a:off x="548640" y="5948553"/>
            <a:ext cx="11094415" cy="457200"/>
          </a:xfrm>
          <a:prstGeom prst="rect">
            <a:avLst/>
          </a:prstGeom>
          <a:noFill/>
          <a:ln/>
        </p:spPr>
        <p:txBody>
          <a:bodyPr wrap="square" lIns="0" tIns="0" rIns="0" bIns="0" rtlCol="0" anchor="t"/>
          <a:lstStyle/>
          <a:p>
            <a:pPr indent="0" marL="0">
              <a:buNone/>
            </a:pPr>
            <a:r>
              <a:rPr lang="en-US" sz="1300" dirty="0">
                <a:solidFill>
                  <a:schemeClr val="accent5"/>
                </a:solidFill>
              </a:rPr>
              <a:t>taken.add(u2); moves.append((2, 0, +1)); break. The step records that the unit was found after the SWAP; _apply_moves will place it right after it.</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4c · the walk: how it works</a:t>
            </a:r>
            <a:endParaRPr lang="en-US" sz="3000" dirty="0"/>
          </a:p>
        </p:txBody>
      </p:sp>
      <p:sp>
        <p:nvSpPr>
          <p:cNvPr id="4" name="source"/>
          <p:cNvSpPr/>
          <p:nvPr/>
        </p:nvSpPr>
        <p:spPr>
          <a:xfrm>
            <a:off x="548640" y="1188720"/>
            <a:ext cx="5989320" cy="4983480"/>
          </a:xfrm>
          <a:prstGeom prst="roundRect">
            <a:avLst>
              <a:gd name="adj" fmla="val 1835"/>
            </a:avLst>
          </a:prstGeom>
          <a:solidFill>
            <a:schemeClr val="bg2"/>
          </a:solidFill>
          <a:ln w="12700">
            <a:solidFill>
              <a:schemeClr val="bg2"/>
            </a:solidFill>
            <a:prstDash val="solid"/>
          </a:ln>
        </p:spPr>
      </p:sp>
      <p:sp>
        <p:nvSpPr>
          <p:cNvPr id="5" name="source text"/>
          <p:cNvSpPr txBox="1"/>
          <p:nvPr/>
        </p:nvSpPr>
        <p:spPr>
          <a:xfrm>
            <a:off x="731520" y="1325880"/>
            <a:ext cx="5623560" cy="4709160"/>
          </a:xfrm>
          <a:prstGeom prst="rect">
            <a:avLst/>
          </a:prstGeom>
          <a:noFill/>
          <a:ln/>
        </p:spPr>
        <p:txBody>
          <a:bodyPr wrap="square" lIns="0" tIns="0" rIns="0" bIns="0" rtlCol="0" anchor="t"/>
          <a:lstStyle/>
          <a:p>
            <a:pPr indent="0" marL="0">
              <a:buNone/>
            </a:pPr>
            <a:r>
              <a:rPr lang="en-US" sz="900" dirty="0">
                <a:solidFill>
                  <a:schemeClr val="tx1"/>
                </a:solidFill>
                <a:latin typeface="Courier New" pitchFamily="34" charset="0"/>
                <a:ea typeface="Courier New" pitchFamily="34" charset="-122"/>
                <a:cs typeface="Courier New" pitchFamily="34" charset="-120"/>
              </a:rPr>
              <a:t>    moves = []</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for swap in pending:</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head = units.first_node[swap]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qubit_a, qubit_b = nodes.first_qubit[head], nodes.second_qubit[head]</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(nodes.last_multi[qubit_a] &lt;= nodes.first_position[head]</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nodes.last_multi[qubit_b] &lt;= nodes.second_position[head]):</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continue                                   # 4b: the scheduling guard</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pair_key = units.pair_keys[swap]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sequence = wires.sequences[qubit_a]</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labels = wires.labels[qubit_a]</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size = len(sequence)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 Search the SWAP's first-qubit wire, preferring a later candidate.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for step in (1, -1):</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index = wires.first_position[swap] + step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while (0 &lt;= index &lt; size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units.pair_keys[sequence[index]] != pair_key</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labels[index] != "-"):</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index += step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not 0 &lt;= index &lt; size: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continue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unit = sequence[index]</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if (units.pair_keys[unit] == pair_key</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unit not in taken</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commutes_between(qubit_a, unit, 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commutes_between(qubit_b, unit, swap)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 not splits_same_pair_run(unit, step, qubit_a, qubit_b)):</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taken.add(unit)</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moves.append((unit, swap, step))</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break</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return moves</a:t>
            </a:r>
            <a:endParaRPr lang="en-US" sz="900" dirty="0"/>
          </a:p>
        </p:txBody>
      </p:sp>
      <p:sp>
        <p:nvSpPr>
          <p:cNvPr id="6" name="panel Step by step"/>
          <p:cNvSpPr/>
          <p:nvPr/>
        </p:nvSpPr>
        <p:spPr>
          <a:xfrm>
            <a:off x="6766560" y="1188720"/>
            <a:ext cx="4876495" cy="4983480"/>
          </a:xfrm>
          <a:prstGeom prst="roundRect">
            <a:avLst>
              <a:gd name="adj" fmla="val 2250"/>
            </a:avLst>
          </a:prstGeom>
          <a:solidFill>
            <a:schemeClr val="bg2"/>
          </a:solidFill>
          <a:ln w="12700">
            <a:solidFill>
              <a:schemeClr val="bg2"/>
            </a:solidFill>
            <a:prstDash val="solid"/>
          </a:ln>
        </p:spPr>
      </p:sp>
      <p:sp>
        <p:nvSpPr>
          <p:cNvPr id="7" name="panel title Step by step"/>
          <p:cNvSpPr txBox="1"/>
          <p:nvPr/>
        </p:nvSpPr>
        <p:spPr>
          <a:xfrm>
            <a:off x="6967728" y="1325880"/>
            <a:ext cx="4474159" cy="365760"/>
          </a:xfrm>
          <a:prstGeom prst="rect">
            <a:avLst/>
          </a:prstGeom>
          <a:noFill/>
          <a:ln/>
        </p:spPr>
        <p:txBody>
          <a:bodyPr wrap="square" lIns="0" tIns="0" rIns="0" bIns="0" rtlCol="0" anchor="ctr"/>
          <a:lstStyle/>
          <a:p>
            <a:pPr indent="0" marL="0">
              <a:buNone/>
            </a:pPr>
            <a:r>
              <a:rPr lang="en-US" sz="1500" b="1" dirty="0">
                <a:solidFill>
                  <a:schemeClr val="accent1"/>
                </a:solidFill>
              </a:rPr>
              <a:t>Step by step</a:t>
            </a:r>
            <a:endParaRPr lang="en-US" sz="1500" dirty="0"/>
          </a:p>
        </p:txBody>
      </p:sp>
      <p:sp>
        <p:nvSpPr>
          <p:cNvPr id="8" name="panel body Step by step"/>
          <p:cNvSpPr txBox="1"/>
          <p:nvPr/>
        </p:nvSpPr>
        <p:spPr>
          <a:xfrm>
            <a:off x="6967728" y="1737360"/>
            <a:ext cx="4474159" cy="4297680"/>
          </a:xfrm>
          <a:prstGeom prst="rect">
            <a:avLst/>
          </a:prstGeom>
          <a:noFill/>
          <a:ln/>
        </p:spPr>
        <p:txBody>
          <a:bodyPr wrap="square" lIns="0" tIns="0" rIns="0" bIns="0" rtlCol="0" anchor="t"/>
          <a:lstStyle/>
          <a:p>
            <a:pPr indent="0" marL="0">
              <a:buNone/>
            </a:pPr>
            <a:r>
              <a:rPr lang="en-US" sz="1150" b="1" dirty="0">
                <a:solidFill>
                  <a:schemeClr val="tx1"/>
                </a:solidFill>
              </a:rPr>
              <a:t>1.  Only pending SWAPs, after the guard</a:t>
            </a:r>
            <a:endParaRPr lang="en-US" sz="1150" dirty="0"/>
          </a:p>
          <a:p>
            <a:pPr indent="0" marL="0">
              <a:buNone/>
            </a:pPr>
            <a:r>
              <a:rPr lang="en-US" sz="1150" dirty="0">
                <a:solidFill>
                  <a:schemeClr val="tx1"/>
                </a:solidFill>
              </a:rPr>
              <a:t>The loop body starts with the 4b condition; a SWAP that fails it is skipped with continue before any wire is read.</a:t>
            </a:r>
            <a:endParaRPr lang="en-US" sz="1150" dirty="0"/>
          </a:p>
          <a:p>
            <a:pPr indent="0" marL="0">
              <a:spcBef>
                <a:spcPts val="700"/>
              </a:spcBef>
              <a:buNone/>
            </a:pPr>
            <a:r>
              <a:rPr lang="en-US" sz="1150" b="1" dirty="0">
                <a:solidFill>
                  <a:schemeClr val="tx1"/>
                </a:solidFill>
              </a:rPr>
              <a:t>2.  Walk wire a, later side first</a:t>
            </a:r>
            <a:endParaRPr lang="en-US" sz="1150" dirty="0"/>
          </a:p>
          <a:p>
            <a:pPr indent="0" marL="0">
              <a:buNone/>
            </a:pPr>
            <a:r>
              <a:rPr lang="en-US" sz="1150" dirty="0">
                <a:solidFill>
                  <a:schemeClr val="tx1"/>
                </a:solidFill>
              </a:rPr>
              <a:t>index starts at the SWAP's position plus step. The while loop advances past units of other pairs whose letter is not '-'. It halts at a same-pair unit, at a wall ('-'), or past the end of the wire; in the last case the direction is given up.</a:t>
            </a:r>
            <a:endParaRPr lang="en-US" sz="1150" dirty="0"/>
          </a:p>
          <a:p>
            <a:pPr indent="0" marL="0">
              <a:spcBef>
                <a:spcPts val="700"/>
              </a:spcBef>
              <a:buNone/>
            </a:pPr>
            <a:r>
              <a:rPr lang="en-US" sz="1150" b="1" dirty="0">
                <a:solidFill>
                  <a:schemeClr val="tx1"/>
                </a:solidFill>
              </a:rPr>
              <a:t>3.  Five checks on the stopping unit</a:t>
            </a:r>
            <a:endParaRPr lang="en-US" sz="1150" dirty="0"/>
          </a:p>
          <a:p>
            <a:pPr indent="0" marL="0">
              <a:buNone/>
            </a:pPr>
            <a:r>
              <a:rPr lang="en-US" sz="1150" dirty="0">
                <a:solidFill>
                  <a:schemeClr val="tx1"/>
                </a:solidFill>
              </a:rPr>
              <a:t>It must carry the SWAP's pair key (so a wall fails here), must not be in taken, must pass commutes_between on wire a and on wire b, and must not split a same-pair run. The walk never looks past a unit that fails.</a:t>
            </a:r>
            <a:endParaRPr lang="en-US" sz="1150" dirty="0"/>
          </a:p>
          <a:p>
            <a:pPr indent="0" marL="0">
              <a:spcBef>
                <a:spcPts val="700"/>
              </a:spcBef>
              <a:buNone/>
            </a:pPr>
            <a:r>
              <a:rPr lang="en-US" sz="1150" b="1" dirty="0">
                <a:solidFill>
                  <a:schemeClr val="tx1"/>
                </a:solidFill>
              </a:rPr>
              <a:t>4.  Record and stop</a:t>
            </a:r>
            <a:endParaRPr lang="en-US" sz="1150" dirty="0"/>
          </a:p>
          <a:p>
            <a:pPr indent="0" marL="0">
              <a:buNone/>
            </a:pPr>
            <a:r>
              <a:rPr lang="en-US" sz="1150" dirty="0">
                <a:solidFill>
                  <a:schemeClr val="tx1"/>
                </a:solidFill>
              </a:rPr>
              <a:t>On success the unit joins taken, (unit, swap, step) joins moves, and break leaves the direction loop: step = −1 is only tried when step = +1 produced no move.</a:t>
            </a:r>
            <a:endParaRPr lang="en-US" sz="1150" dirty="0"/>
          </a:p>
          <a:p>
            <a:pPr indent="0" marL="0">
              <a:spcBef>
                <a:spcPts val="700"/>
              </a:spcBef>
              <a:buNone/>
            </a:pPr>
            <a:r>
              <a:rPr lang="en-US" sz="1150" b="1" dirty="0">
                <a:solidFill>
                  <a:schemeClr val="tx1"/>
                </a:solidFill>
              </a:rPr>
              <a:t>5.  What the result means</a:t>
            </a:r>
            <a:endParaRPr lang="en-US" sz="1150" dirty="0"/>
          </a:p>
          <a:p>
            <a:pPr indent="0" marL="0">
              <a:buNone/>
            </a:pPr>
            <a:r>
              <a:rPr lang="en-US" sz="1150" dirty="0">
                <a:solidFill>
                  <a:schemeClr val="tx1"/>
                </a:solidFill>
              </a:rPr>
              <a:t>moves pairs each unit with its SWAP and the side it was found on. Candidates stay on their side of the SWAP, so a unit found after the SWAP is placed right after it and never crosses it.</a:t>
            </a:r>
            <a:endParaRPr lang="en-US" sz="11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Stage 4c · a walk that finds nothing</a:t>
            </a:r>
            <a:endParaRPr lang="en-US" sz="3000" dirty="0"/>
          </a:p>
        </p:txBody>
      </p:sp>
      <p:pic>
        <p:nvPicPr>
          <p:cNvPr id="4" name="25_walk_reject" descr="/private/tmp/claude-501/-Users-ophir-PycharmProjects-qiskit-swap-absorption/0081b426-35e2-4c6c-a613-c495a6fcf015/scratchpad/work/svg_out/25_walk_reject.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26571" y="1188720"/>
            <a:ext cx="9338553" cy="3657600"/>
          </a:xfrm>
          <a:prstGeom prst="rect">
            <a:avLst/>
          </a:prstGeom>
        </p:spPr>
      </p:pic>
      <p:sp>
        <p:nvSpPr>
          <p:cNvPr id="5" name="card Why stop at the first same-pair unit"/>
          <p:cNvSpPr/>
          <p:nvPr/>
        </p:nvSpPr>
        <p:spPr>
          <a:xfrm>
            <a:off x="548640" y="5074920"/>
            <a:ext cx="5394960" cy="1051560"/>
          </a:xfrm>
          <a:prstGeom prst="roundRect">
            <a:avLst>
              <a:gd name="adj" fmla="val 10435"/>
            </a:avLst>
          </a:prstGeom>
          <a:solidFill>
            <a:schemeClr val="bg2"/>
          </a:solidFill>
          <a:ln w="12700">
            <a:solidFill>
              <a:schemeClr val="bg2"/>
            </a:solidFill>
            <a:prstDash val="solid"/>
          </a:ln>
        </p:spPr>
      </p:sp>
      <p:sp>
        <p:nvSpPr>
          <p:cNvPr id="6" name="card title Why stop at the first same-pair unit"/>
          <p:cNvSpPr txBox="1"/>
          <p:nvPr/>
        </p:nvSpPr>
        <p:spPr>
          <a:xfrm>
            <a:off x="749808" y="521208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Why stop at the first same-pair unit</a:t>
            </a:r>
            <a:endParaRPr lang="en-US" sz="1600" dirty="0"/>
          </a:p>
        </p:txBody>
      </p:sp>
      <p:sp>
        <p:nvSpPr>
          <p:cNvPr id="7" name="card body Why stop at the first same-pair unit"/>
          <p:cNvSpPr txBox="1"/>
          <p:nvPr/>
        </p:nvSpPr>
        <p:spPr>
          <a:xfrm>
            <a:off x="749808" y="5605272"/>
            <a:ext cx="4992624" cy="4114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Moving CZ next to the SWAP would carry it across CP, a same-pair unit that cannot be reordered with it in general. The first same-pair unit is the only one that can reach the SWAP.</a:t>
            </a:r>
            <a:endParaRPr lang="en-US" sz="1200" dirty="0"/>
          </a:p>
        </p:txBody>
      </p:sp>
      <p:sp>
        <p:nvSpPr>
          <p:cNvPr id="8" name="card Why walls end the walk"/>
          <p:cNvSpPr/>
          <p:nvPr/>
        </p:nvSpPr>
        <p:spPr>
          <a:xfrm>
            <a:off x="6245352" y="5074920"/>
            <a:ext cx="5394960" cy="1051560"/>
          </a:xfrm>
          <a:prstGeom prst="roundRect">
            <a:avLst>
              <a:gd name="adj" fmla="val 10435"/>
            </a:avLst>
          </a:prstGeom>
          <a:solidFill>
            <a:schemeClr val="bg2"/>
          </a:solidFill>
          <a:ln w="12700">
            <a:solidFill>
              <a:schemeClr val="bg2"/>
            </a:solidFill>
            <a:prstDash val="solid"/>
          </a:ln>
        </p:spPr>
      </p:sp>
      <p:sp>
        <p:nvSpPr>
          <p:cNvPr id="9" name="card title Why walls end the walk"/>
          <p:cNvSpPr txBox="1"/>
          <p:nvPr/>
        </p:nvSpPr>
        <p:spPr>
          <a:xfrm>
            <a:off x="6446520" y="521208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Why walls end the walk</a:t>
            </a:r>
            <a:endParaRPr lang="en-US" sz="1600" dirty="0"/>
          </a:p>
        </p:txBody>
      </p:sp>
      <p:sp>
        <p:nvSpPr>
          <p:cNvPr id="10" name="card body Why walls end the walk"/>
          <p:cNvSpPr txBox="1"/>
          <p:nvPr/>
        </p:nvSpPr>
        <p:spPr>
          <a:xfrm>
            <a:off x="6446520" y="5605272"/>
            <a:ext cx="4992624" cy="41148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A unit with letter '-' on wire a, such as H, a barrier or a measurement, cannot be crossed by anything, so no candidate beyond it could ever reach the SWAP.</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commutes_between: the constant-time interval check</a:t>
            </a:r>
            <a:endParaRPr lang="en-US" sz="3000" dirty="0"/>
          </a:p>
        </p:txBody>
      </p:sp>
      <p:pic>
        <p:nvPicPr>
          <p:cNvPr id="4" name="27_run_start" descr="/private/tmp/claude-501/-Users-ophir-PycharmProjects-qiskit-swap-absorption/0081b426-35e2-4c6c-a613-c495a6fcf015/scratchpad/work/svg_out/27_run_start.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57764" y="1188720"/>
            <a:ext cx="8676167" cy="3108960"/>
          </a:xfrm>
          <a:prstGeom prst="rect">
            <a:avLst/>
          </a:prstGeom>
        </p:spPr>
      </p:pic>
      <p:sp>
        <p:nvSpPr>
          <p:cNvPr id="5" name="code card"/>
          <p:cNvSpPr/>
          <p:nvPr/>
        </p:nvSpPr>
        <p:spPr>
          <a:xfrm>
            <a:off x="548640" y="4480560"/>
            <a:ext cx="6583680" cy="1783080"/>
          </a:xfrm>
          <a:prstGeom prst="roundRect">
            <a:avLst>
              <a:gd name="adj" fmla="val 5128"/>
            </a:avLst>
          </a:prstGeom>
          <a:solidFill>
            <a:schemeClr val="bg2"/>
          </a:solidFill>
          <a:ln w="12700">
            <a:solidFill>
              <a:schemeClr val="bg2"/>
            </a:solidFill>
            <a:prstDash val="solid"/>
          </a:ln>
        </p:spPr>
      </p:sp>
      <p:sp>
        <p:nvSpPr>
          <p:cNvPr id="6" name="code"/>
          <p:cNvSpPr txBox="1"/>
          <p:nvPr/>
        </p:nvSpPr>
        <p:spPr>
          <a:xfrm>
            <a:off x="731520" y="4617720"/>
            <a:ext cx="6217920" cy="1508760"/>
          </a:xfrm>
          <a:prstGeom prst="rect">
            <a:avLst/>
          </a:prstGeom>
          <a:noFill/>
          <a:ln/>
        </p:spPr>
        <p:txBody>
          <a:bodyPr wrap="square" lIns="0" tIns="0" rIns="0" bIns="0" rtlCol="0" anchor="t"/>
          <a:lstStyle/>
          <a:p>
            <a:pPr indent="0" marL="0">
              <a:buNone/>
            </a:pPr>
            <a:r>
              <a:rPr lang="en-US" sz="950" dirty="0">
                <a:solidFill>
                  <a:schemeClr val="tx1"/>
                </a:solidFill>
                <a:latin typeface="Courier New" pitchFamily="34" charset="0"/>
                <a:ea typeface="Courier New" pitchFamily="34" charset="-122"/>
                <a:cs typeface="Courier New" pitchFamily="34" charset="-120"/>
              </a:rPr>
              <a:t>def commutes_between(qubit, unit, swap):</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unit_position = position_on_wire(qubit, unit)</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swap_position = position_on_wire(qubit, swap)</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low, high = ((unit_position, swap_position) if unit_position &lt; swap_position</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else (swap_position, unit_position))</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labels = wires.labels[qubit]</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pauli = labels[unit_position]</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if pauli == "-":</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return False</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return high - low &lt;= 1 or (</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labels[high - 1] == pauli and wires.run_starts[qubit][high - 1] &lt;= low + 1)</a:t>
            </a:r>
            <a:endParaRPr lang="en-US" sz="950" dirty="0"/>
          </a:p>
        </p:txBody>
      </p:sp>
      <p:sp>
        <p:nvSpPr>
          <p:cNvPr id="7" name="card Why it is O(1)"/>
          <p:cNvSpPr/>
          <p:nvPr/>
        </p:nvSpPr>
        <p:spPr>
          <a:xfrm>
            <a:off x="7360920" y="4480560"/>
            <a:ext cx="4279392" cy="1783080"/>
          </a:xfrm>
          <a:prstGeom prst="roundRect">
            <a:avLst>
              <a:gd name="adj" fmla="val 6154"/>
            </a:avLst>
          </a:prstGeom>
          <a:solidFill>
            <a:schemeClr val="bg2"/>
          </a:solidFill>
          <a:ln w="12700">
            <a:solidFill>
              <a:schemeClr val="bg2"/>
            </a:solidFill>
            <a:prstDash val="solid"/>
          </a:ln>
        </p:spPr>
      </p:sp>
      <p:sp>
        <p:nvSpPr>
          <p:cNvPr id="8" name="card title Why it is O(1)"/>
          <p:cNvSpPr txBox="1"/>
          <p:nvPr/>
        </p:nvSpPr>
        <p:spPr>
          <a:xfrm>
            <a:off x="7562088" y="4617720"/>
            <a:ext cx="3877056" cy="365760"/>
          </a:xfrm>
          <a:prstGeom prst="rect">
            <a:avLst/>
          </a:prstGeom>
          <a:noFill/>
          <a:ln/>
        </p:spPr>
        <p:txBody>
          <a:bodyPr wrap="square" lIns="0" tIns="0" rIns="0" bIns="0" rtlCol="0" anchor="ctr"/>
          <a:lstStyle/>
          <a:p>
            <a:pPr indent="0" marL="0">
              <a:buNone/>
            </a:pPr>
            <a:r>
              <a:rPr lang="en-US" sz="1600" b="1" dirty="0">
                <a:solidFill>
                  <a:schemeClr val="accent1"/>
                </a:solidFill>
              </a:rPr>
              <a:t>Why it is O(1)</a:t>
            </a:r>
            <a:endParaRPr lang="en-US" sz="1600" dirty="0"/>
          </a:p>
        </p:txBody>
      </p:sp>
      <p:sp>
        <p:nvSpPr>
          <p:cNvPr id="9" name="card body Why it is O(1)"/>
          <p:cNvSpPr txBox="1"/>
          <p:nvPr/>
        </p:nvSpPr>
        <p:spPr>
          <a:xfrm>
            <a:off x="7562088" y="5010912"/>
            <a:ext cx="3877056" cy="114300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Stage 3 precomputed run_starts, so the check reads two array entries whatever the distance. The walk is called once per SWAP and direction, and this check twice per stopping unit, so the search cost is dominated by the walk itself, not by commutation tests.</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splits_same_pair_run: do not break up a run of same-pair work</a:t>
            </a:r>
            <a:endParaRPr lang="en-US" sz="3000" dirty="0"/>
          </a:p>
        </p:txBody>
      </p:sp>
      <p:pic>
        <p:nvPicPr>
          <p:cNvPr id="4" name="26_split_run" descr="/private/tmp/claude-501/-Users-ophir-PycharmProjects-qiskit-swap-absorption/0081b426-35e2-4c6c-a613-c495a6fcf015/scratchpad/work/svg_out/26_split_run.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57764" y="1188720"/>
            <a:ext cx="8676167" cy="3108960"/>
          </a:xfrm>
          <a:prstGeom prst="rect">
            <a:avLst/>
          </a:prstGeom>
        </p:spPr>
      </p:pic>
      <p:sp>
        <p:nvSpPr>
          <p:cNvPr id="5" name="code card"/>
          <p:cNvSpPr/>
          <p:nvPr/>
        </p:nvSpPr>
        <p:spPr>
          <a:xfrm>
            <a:off x="548640" y="4480560"/>
            <a:ext cx="6583680" cy="1783080"/>
          </a:xfrm>
          <a:prstGeom prst="roundRect">
            <a:avLst>
              <a:gd name="adj" fmla="val 5128"/>
            </a:avLst>
          </a:prstGeom>
          <a:solidFill>
            <a:schemeClr val="bg2"/>
          </a:solidFill>
          <a:ln w="12700">
            <a:solidFill>
              <a:schemeClr val="bg2"/>
            </a:solidFill>
            <a:prstDash val="solid"/>
          </a:ln>
        </p:spPr>
      </p:sp>
      <p:sp>
        <p:nvSpPr>
          <p:cNvPr id="6" name="code"/>
          <p:cNvSpPr txBox="1"/>
          <p:nvPr/>
        </p:nvSpPr>
        <p:spPr>
          <a:xfrm>
            <a:off x="731520" y="4617720"/>
            <a:ext cx="6217920" cy="1508760"/>
          </a:xfrm>
          <a:prstGeom prst="rect">
            <a:avLst/>
          </a:prstGeom>
          <a:noFill/>
          <a:ln/>
        </p:spPr>
        <p:txBody>
          <a:bodyPr wrap="square" lIns="0" tIns="0" rIns="0" bIns="0" rtlCol="0" anchor="t"/>
          <a:lstStyle/>
          <a:p>
            <a:pPr indent="0" marL="0">
              <a:buNone/>
            </a:pPr>
            <a:r>
              <a:rPr lang="en-US" sz="950" dirty="0">
                <a:solidFill>
                  <a:schemeClr val="tx1"/>
                </a:solidFill>
                <a:latin typeface="Courier New" pitchFamily="34" charset="0"/>
                <a:ea typeface="Courier New" pitchFamily="34" charset="-122"/>
                <a:cs typeface="Courier New" pitchFamily="34" charset="-120"/>
              </a:rPr>
              <a:t>def splits_same_pair_run(unit, step, qubit_a, qubit_b):</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neighbours = []</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for qubit in (qubit_a, qubit_b):</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sequence = wires.sequences[qubit]</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index = position_on_wire(qubit, unit) + step</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while (0 &lt;= index &lt; len(sequence)</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and units.pair_keys[sequence[index]] == _SINGLE_QUBIT_UNIT):</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index += step</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neighbours.append(sequence[index] if 0 &lt;= index &lt; len(sequence) else None)</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return (neighbours[0] is not None and neighbours[0] == neighbours[1]</a:t>
            </a:r>
            <a:endParaRPr lang="en-US" sz="950" dirty="0"/>
          </a:p>
          <a:p>
            <a:pPr indent="0" marL="0">
              <a:buNone/>
            </a:pPr>
            <a:r>
              <a:rPr lang="en-US" sz="950" dirty="0">
                <a:solidFill>
                  <a:schemeClr val="tx1"/>
                </a:solidFill>
                <a:latin typeface="Courier New" pitchFamily="34" charset="0"/>
                <a:ea typeface="Courier New" pitchFamily="34" charset="-122"/>
                <a:cs typeface="Courier New" pitchFamily="34" charset="-120"/>
              </a:rPr>
              <a:t>            and units.pair_keys[neighbours[0]] == units.pair_keys[unit])</a:t>
            </a:r>
            <a:endParaRPr lang="en-US" sz="950" dirty="0"/>
          </a:p>
        </p:txBody>
      </p:sp>
      <p:sp>
        <p:nvSpPr>
          <p:cNvPr id="7" name="card Reading the arguments"/>
          <p:cNvSpPr/>
          <p:nvPr/>
        </p:nvSpPr>
        <p:spPr>
          <a:xfrm>
            <a:off x="7360920" y="4480560"/>
            <a:ext cx="4279392" cy="1783080"/>
          </a:xfrm>
          <a:prstGeom prst="roundRect">
            <a:avLst>
              <a:gd name="adj" fmla="val 6154"/>
            </a:avLst>
          </a:prstGeom>
          <a:solidFill>
            <a:schemeClr val="bg2"/>
          </a:solidFill>
          <a:ln w="12700">
            <a:solidFill>
              <a:schemeClr val="bg2"/>
            </a:solidFill>
            <a:prstDash val="solid"/>
          </a:ln>
        </p:spPr>
      </p:sp>
      <p:sp>
        <p:nvSpPr>
          <p:cNvPr id="8" name="card title Reading the arguments"/>
          <p:cNvSpPr txBox="1"/>
          <p:nvPr/>
        </p:nvSpPr>
        <p:spPr>
          <a:xfrm>
            <a:off x="7562088" y="4617720"/>
            <a:ext cx="3877056" cy="365760"/>
          </a:xfrm>
          <a:prstGeom prst="rect">
            <a:avLst/>
          </a:prstGeom>
          <a:noFill/>
          <a:ln/>
        </p:spPr>
        <p:txBody>
          <a:bodyPr wrap="square" lIns="0" tIns="0" rIns="0" bIns="0" rtlCol="0" anchor="ctr"/>
          <a:lstStyle/>
          <a:p>
            <a:pPr indent="0" marL="0">
              <a:buNone/>
            </a:pPr>
            <a:r>
              <a:rPr lang="en-US" sz="1600" b="1" dirty="0">
                <a:solidFill>
                  <a:schemeClr val="accent1"/>
                </a:solidFill>
              </a:rPr>
              <a:t>Reading the arguments</a:t>
            </a:r>
            <a:endParaRPr lang="en-US" sz="1600" dirty="0"/>
          </a:p>
        </p:txBody>
      </p:sp>
      <p:sp>
        <p:nvSpPr>
          <p:cNvPr id="9" name="card body Reading the arguments"/>
          <p:cNvSpPr txBox="1"/>
          <p:nvPr/>
        </p:nvSpPr>
        <p:spPr>
          <a:xfrm>
            <a:off x="7562088" y="5010912"/>
            <a:ext cx="3877056" cy="114300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step is the walk direction, so unit + step is 'farther from the SWAP'. Only _SINGLE_QUBIT_UNIT (−2) units are skipped: a barrier (−1) or another pair's gate stops the look-ahead and the answer is False.</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_apply_moves: rewriting the DAG</a:t>
            </a:r>
            <a:endParaRPr lang="en-US" sz="3000" dirty="0"/>
          </a:p>
        </p:txBody>
      </p:sp>
      <p:pic>
        <p:nvPicPr>
          <p:cNvPr id="4" name="18_apply_moves" descr="/private/tmp/claude-501/-Users-ophir-PycharmProjects-qiskit-swap-absorption/0081b426-35e2-4c6c-a613-c495a6fcf015/scratchpad/work/svg_out/18_apply_move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3790592"/>
          </a:xfrm>
          <a:prstGeom prst="rect">
            <a:avLst/>
          </a:prstGeom>
        </p:spPr>
      </p:pic>
      <p:sp>
        <p:nvSpPr>
          <p:cNvPr id="5" name="code card"/>
          <p:cNvSpPr/>
          <p:nvPr/>
        </p:nvSpPr>
        <p:spPr>
          <a:xfrm>
            <a:off x="548640" y="5162192"/>
            <a:ext cx="11094415" cy="1051560"/>
          </a:xfrm>
          <a:prstGeom prst="roundRect">
            <a:avLst>
              <a:gd name="adj" fmla="val 8696"/>
            </a:avLst>
          </a:prstGeom>
          <a:solidFill>
            <a:schemeClr val="bg2"/>
          </a:solidFill>
          <a:ln w="12700">
            <a:solidFill>
              <a:schemeClr val="bg2"/>
            </a:solidFill>
            <a:prstDash val="solid"/>
          </a:ln>
        </p:spPr>
      </p:sp>
      <p:sp>
        <p:nvSpPr>
          <p:cNvPr id="6" name="code"/>
          <p:cNvSpPr txBox="1"/>
          <p:nvPr/>
        </p:nvSpPr>
        <p:spPr>
          <a:xfrm>
            <a:off x="731520" y="5299352"/>
            <a:ext cx="10728655" cy="777240"/>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for unit, _, _ in moves:                       # 1. remove all members first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for member in units[unit][0]: dag.remove_op_node(order[member])</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for unit, swap, step in moves:                 # 2. build a 2-qubit block in the right order</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block = DAGCircuit(); block.add_qubits(qubits := [Qubit(), Qubit()]); wire_map = dict(zip(swap_node.qargs, qubits))</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 dag.substitute_node_with_dag(swap_node, block, wires=qubits)   # 3. replace the SWAP node by the block</a:t>
            </a:r>
            <a:endParaRPr lang="en-US" sz="10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three index records</a:t>
            </a:r>
            <a:endParaRPr lang="en-US" sz="3000" dirty="0"/>
          </a:p>
        </p:txBody>
      </p:sp>
      <p:graphicFrame>
        <p:nvGraphicFramePr>
          <p:cNvPr id="41" name="NodeIndex table"/>
          <p:cNvGraphicFramePr>
            <a:graphicFrameLocks noGrp="1"/>
          </p:cNvGraphicFramePr>
          <p:nvPr>
            <p:extLst>
              <p:ext uri="{D42A27DB-BD31-4B8C-83A1-F6EECF244321}">
                <p14:modId xmlns:p14="http://schemas.microsoft.com/office/powerpoint/2010/main" val="1579011935"/>
              </p:ext>
            </p:extLst>
          </p:nvPr>
        </p:nvGraphicFramePr>
        <p:xfrm>
          <a:off x="548640" y="1280160"/>
          <a:ext cx="3611880" cy="914400"/>
        </p:xfrm>
        <a:graphic>
          <a:graphicData uri="http://schemas.openxmlformats.org/drawingml/2006/table">
            <a:tbl>
              <a:tblPr/>
              <a:tblGrid>
                <a:gridCol w="1645920"/>
                <a:gridCol w="1965960"/>
              </a:tblGrid>
              <a:tr h="365760">
                <a:tc>
                  <a:txBody>
                    <a:bodyPr/>
                    <a:lstStyle/>
                    <a:p>
                      <a:pPr indent="0" marL="0">
                        <a:buNone/>
                      </a:pPr>
                      <a:r>
                        <a:rPr lang="en-US" sz="1200" b="1" dirty="0">
                          <a:solidFill>
                            <a:schemeClr val="bg1"/>
                          </a:solidFill>
                        </a:rPr>
                        <a:t>_NodeIndex</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per node, from stage 1</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wires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qubit: node indices on that wire, in order</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last_multi</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qubit: position of the last node with ≥ 2 qubits, or −1</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first_qubit</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index of the node's first qubit, or −1</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second_qubit</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index of its second qubit (two-qubit nodes only)</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first_position</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its index in wires[first_qubit]</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second_position</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its index in wires[second_qubit]</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widths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00" dirty="0">
                          <a:solidFill>
                            <a:schemeClr val="tx1"/>
                          </a:solidFill>
                        </a:rPr>
                        <a:t>number of qubits</a:t>
                      </a:r>
                      <a:endParaRPr lang="en-US" sz="10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graphicFrame>
        <p:nvGraphicFramePr>
          <p:cNvPr id="81" name="UnitIndex table"/>
          <p:cNvGraphicFramePr>
            <a:graphicFrameLocks noGrp="1"/>
          </p:cNvGraphicFramePr>
          <p:nvPr>
            <p:extLst>
              <p:ext uri="{D42A27DB-BD31-4B8C-83A1-F6EECF244321}">
                <p14:modId xmlns:p14="http://schemas.microsoft.com/office/powerpoint/2010/main" val="1579011935"/>
              </p:ext>
            </p:extLst>
          </p:nvPr>
        </p:nvGraphicFramePr>
        <p:xfrm>
          <a:off x="4288536" y="1280160"/>
          <a:ext cx="3611880" cy="914400"/>
        </p:xfrm>
        <a:graphic>
          <a:graphicData uri="http://schemas.openxmlformats.org/drawingml/2006/table">
            <a:tbl>
              <a:tblPr/>
              <a:tblGrid>
                <a:gridCol w="1463040"/>
                <a:gridCol w="2148840"/>
              </a:tblGrid>
              <a:tr h="365760">
                <a:tc>
                  <a:txBody>
                    <a:bodyPr/>
                    <a:lstStyle/>
                    <a:p>
                      <a:pPr indent="0" marL="0">
                        <a:buNone/>
                      </a:pPr>
                      <a:r>
                        <a:rPr lang="en-US" sz="1200" b="1" dirty="0">
                          <a:solidFill>
                            <a:schemeClr val="bg1"/>
                          </a:solidFill>
                        </a:rPr>
                        <a:t>_UnitIndex</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per unit, from stage 2</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node_to_unit</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node: its unit id</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first_node</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node index of the unit's first node</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groups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unit → [first, middle, last], CX·D·CX units only</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labels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letters, in the first node's qubit order</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pair_keys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unordered pair key, or −2 (one-qubit) / −1 (other)</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swaps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unit ids of genuine standard SWAPs, in order</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graphicFrame>
        <p:nvGraphicFramePr>
          <p:cNvPr id="121" name="WireIndex table"/>
          <p:cNvGraphicFramePr>
            <a:graphicFrameLocks noGrp="1"/>
          </p:cNvGraphicFramePr>
          <p:nvPr>
            <p:extLst>
              <p:ext uri="{D42A27DB-BD31-4B8C-83A1-F6EECF244321}">
                <p14:modId xmlns:p14="http://schemas.microsoft.com/office/powerpoint/2010/main" val="1579011935"/>
              </p:ext>
            </p:extLst>
          </p:nvPr>
        </p:nvGraphicFramePr>
        <p:xfrm>
          <a:off x="8028432" y="1280160"/>
          <a:ext cx="3611880" cy="914400"/>
        </p:xfrm>
        <a:graphic>
          <a:graphicData uri="http://schemas.openxmlformats.org/drawingml/2006/table">
            <a:tbl>
              <a:tblPr/>
              <a:tblGrid>
                <a:gridCol w="1645920"/>
                <a:gridCol w="1965960"/>
              </a:tblGrid>
              <a:tr h="365760">
                <a:tc>
                  <a:txBody>
                    <a:bodyPr/>
                    <a:lstStyle/>
                    <a:p>
                      <a:pPr indent="0" marL="0">
                        <a:buNone/>
                      </a:pPr>
                      <a:r>
                        <a:rPr lang="en-US" sz="1200" b="1" dirty="0">
                          <a:solidFill>
                            <a:schemeClr val="bg1"/>
                          </a:solidFill>
                        </a:rPr>
                        <a:t>_WireIndex</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per wire or unit, from stage 3</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sequences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qubit: unit ids along the wire, repeats merged</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labels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qubit: the letter each unit carries on this wire</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run_starts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qubit and position: where the run of equal letters began</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first_position</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unit: position on the wire of its first qubit, or −1</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second_position</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per unit: position on the wire of its second qubit</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sp>
        <p:nvSpPr>
          <p:cNvPr id="7" name="card How to read an index"/>
          <p:cNvSpPr/>
          <p:nvPr/>
        </p:nvSpPr>
        <p:spPr>
          <a:xfrm>
            <a:off x="548640" y="4572000"/>
            <a:ext cx="11094415" cy="1554480"/>
          </a:xfrm>
          <a:prstGeom prst="roundRect">
            <a:avLst>
              <a:gd name="adj" fmla="val 7059"/>
            </a:avLst>
          </a:prstGeom>
          <a:solidFill>
            <a:schemeClr val="bg2"/>
          </a:solidFill>
          <a:ln w="12700">
            <a:solidFill>
              <a:schemeClr val="bg2"/>
            </a:solidFill>
            <a:prstDash val="solid"/>
          </a:ln>
        </p:spPr>
      </p:sp>
      <p:sp>
        <p:nvSpPr>
          <p:cNvPr id="8" name="card title How to read an index"/>
          <p:cNvSpPr txBox="1"/>
          <p:nvPr/>
        </p:nvSpPr>
        <p:spPr>
          <a:xfrm>
            <a:off x="749808" y="4709160"/>
            <a:ext cx="10692079" cy="365760"/>
          </a:xfrm>
          <a:prstGeom prst="rect">
            <a:avLst/>
          </a:prstGeom>
          <a:noFill/>
          <a:ln/>
        </p:spPr>
        <p:txBody>
          <a:bodyPr wrap="square" lIns="0" tIns="0" rIns="0" bIns="0" rtlCol="0" anchor="ctr"/>
          <a:lstStyle/>
          <a:p>
            <a:pPr indent="0" marL="0">
              <a:buNone/>
            </a:pPr>
            <a:r>
              <a:rPr lang="en-US" sz="1600" b="1" dirty="0">
                <a:solidFill>
                  <a:schemeClr val="accent1"/>
                </a:solidFill>
              </a:rPr>
              <a:t>How to read an index</a:t>
            </a:r>
            <a:endParaRPr lang="en-US" sz="1600" dirty="0"/>
          </a:p>
        </p:txBody>
      </p:sp>
      <p:sp>
        <p:nvSpPr>
          <p:cNvPr id="9" name="card body How to read an index"/>
          <p:cNvSpPr txBox="1"/>
          <p:nvPr/>
        </p:nvSpPr>
        <p:spPr>
          <a:xfrm>
            <a:off x="749808" y="5102352"/>
            <a:ext cx="10692079" cy="9144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A node index refers to order; a unit index refers to first_node; a qubit index refers to dag.qubits. A position is an index into one wire's list.</a:t>
            </a:r>
            <a:endParaRPr lang="en-US" sz="1200" dirty="0"/>
          </a:p>
          <a:p>
            <a:pPr marL="152400" indent="-152400">
              <a:spcAft>
                <a:spcPts val="500"/>
              </a:spcAft>
              <a:buSzPct val="100000"/>
              <a:buChar char="•"/>
            </a:pPr>
            <a:r>
              <a:rPr lang="en-US" sz="1200" dirty="0">
                <a:solidFill>
                  <a:schemeClr val="tx1"/>
                </a:solidFill>
              </a:rPr>
              <a:t>_NodeIndex positions count nodes on a wire (the scheduling guard uses them). _WireIndex positions count merged units (every other stage-4 check uses them).</a:t>
            </a:r>
            <a:endParaRPr lang="en-US" sz="1200" dirty="0"/>
          </a:p>
          <a:p>
            <a:pPr marL="152400" indent="-152400">
              <a:spcAft>
                <a:spcPts val="500"/>
              </a:spcAft>
              <a:buSzPct val="100000"/>
              <a:buChar char="•"/>
            </a:pPr>
            <a:r>
              <a:rPr lang="en-US" sz="1200" dirty="0">
                <a:solidFill>
                  <a:schemeClr val="tx1"/>
                </a:solidFill>
              </a:rPr>
              <a:t>frozen=True makes the records read-only after construction; slots=True keeps them compact. Nothing downstream mutates what an earlier stage built.</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_Members, the helper functions and the performance picture</a:t>
            </a:r>
            <a:endParaRPr lang="en-US" sz="3000" dirty="0"/>
          </a:p>
        </p:txBody>
      </p:sp>
      <p:graphicFrame>
        <p:nvGraphicFramePr>
          <p:cNvPr id="42"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5212080" cy="914400"/>
        </p:xfrm>
        <a:graphic>
          <a:graphicData uri="http://schemas.openxmlformats.org/drawingml/2006/table">
            <a:tbl>
              <a:tblPr/>
              <a:tblGrid>
                <a:gridCol w="1828800"/>
                <a:gridCol w="3383280"/>
              </a:tblGrid>
              <a:tr h="384048">
                <a:tc>
                  <a:txBody>
                    <a:bodyPr/>
                    <a:lstStyle/>
                    <a:p>
                      <a:pPr indent="0" marL="0">
                        <a:buNone/>
                      </a:pPr>
                      <a:r>
                        <a:rPr lang="en-US" sz="1200" b="1" dirty="0">
                          <a:solidFill>
                            <a:schemeClr val="bg1"/>
                          </a:solidFill>
                        </a:rPr>
                        <a:t>_Members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Role and source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first</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unit id → index in order of its first node (units.first_node)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groups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unit id → the three node indices of a CX·D·CX unit (units.groups)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q0, q1</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node index → first / second qubit index, or −1 (nodes.first_qubit, nodes.second_qubit)</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qargs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callback returning all qubit indices of a node (qubits_for_node)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__len__()</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number of units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__getitem__(unit)</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(members, qubits): node indices and a frozenset of qubit indices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graphicFrame>
        <p:nvGraphicFramePr>
          <p:cNvPr id="83" name="table"/>
          <p:cNvGraphicFramePr>
            <a:graphicFrameLocks noGrp="1"/>
          </p:cNvGraphicFramePr>
          <p:nvPr>
            <p:extLst>
              <p:ext uri="{D42A27DB-BD31-4B8C-83A1-F6EECF244321}">
                <p14:modId xmlns:p14="http://schemas.microsoft.com/office/powerpoint/2010/main" val="1579011935"/>
              </p:ext>
            </p:extLst>
          </p:nvPr>
        </p:nvGraphicFramePr>
        <p:xfrm>
          <a:off x="5989320" y="1280160"/>
          <a:ext cx="5650992" cy="914400"/>
        </p:xfrm>
        <a:graphic>
          <a:graphicData uri="http://schemas.openxmlformats.org/drawingml/2006/table">
            <a:tbl>
              <a:tblPr/>
              <a:tblGrid>
                <a:gridCol w="2331720"/>
                <a:gridCol w="1325880"/>
                <a:gridCol w="1993392"/>
              </a:tblGrid>
              <a:tr h="384048">
                <a:tc>
                  <a:txBody>
                    <a:bodyPr/>
                    <a:lstStyle/>
                    <a:p>
                      <a:pPr indent="0" marL="0">
                        <a:buNone/>
                      </a:pPr>
                      <a:r>
                        <a:rPr lang="en-US" sz="1200" b="1" dirty="0">
                          <a:solidFill>
                            <a:schemeClr val="bg1"/>
                          </a:solidFill>
                        </a:rPr>
                        <a:t>Helper</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Lives in</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Purpose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384048">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qubits_for_node(node)</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_find_moves</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all qubit indices of order[node]; passed to _Members as qargs</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next_on_wire(qubit, position)</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_group_nodes</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node after that position on the wire, or None; used by the CX·D·CX test</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position_on_wire(qubit, unit)</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_select_moves</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the unit's merged position on that wire (first_position or second_position)</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commutes_between(qubit, unit, swap)</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_select_moves</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constant-time check that every unit between them carries the candidate's letter</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384048">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splits_same_pair_run(unit, step, qubit_a, qubit_b)</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_select_moves</a:t>
                      </a:r>
                      <a:endParaRPr lang="en-US" sz="105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050" dirty="0">
                          <a:solidFill>
                            <a:schemeClr val="tx1"/>
                          </a:solidFill>
                        </a:rPr>
                        <a:t>True when moving would detach the unit from a same-pair unit beyond it</a:t>
                      </a:r>
                      <a:endParaRPr lang="en-US" sz="105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sp>
        <p:nvSpPr>
          <p:cNvPr id="6" name="card Performance picture"/>
          <p:cNvSpPr/>
          <p:nvPr/>
        </p:nvSpPr>
        <p:spPr>
          <a:xfrm>
            <a:off x="548640" y="4343400"/>
            <a:ext cx="11094415" cy="1737360"/>
          </a:xfrm>
          <a:prstGeom prst="roundRect">
            <a:avLst>
              <a:gd name="adj" fmla="val 6316"/>
            </a:avLst>
          </a:prstGeom>
          <a:solidFill>
            <a:schemeClr val="bg2"/>
          </a:solidFill>
          <a:ln w="12700">
            <a:solidFill>
              <a:schemeClr val="bg2"/>
            </a:solidFill>
            <a:prstDash val="solid"/>
          </a:ln>
        </p:spPr>
      </p:sp>
      <p:sp>
        <p:nvSpPr>
          <p:cNvPr id="7" name="card title Performance picture"/>
          <p:cNvSpPr txBox="1"/>
          <p:nvPr/>
        </p:nvSpPr>
        <p:spPr>
          <a:xfrm>
            <a:off x="749808" y="4480560"/>
            <a:ext cx="10692079" cy="365760"/>
          </a:xfrm>
          <a:prstGeom prst="rect">
            <a:avLst/>
          </a:prstGeom>
          <a:noFill/>
          <a:ln/>
        </p:spPr>
        <p:txBody>
          <a:bodyPr wrap="square" lIns="0" tIns="0" rIns="0" bIns="0" rtlCol="0" anchor="ctr"/>
          <a:lstStyle/>
          <a:p>
            <a:pPr indent="0" marL="0">
              <a:buNone/>
            </a:pPr>
            <a:r>
              <a:rPr lang="en-US" sz="1600" b="1" dirty="0">
                <a:solidFill>
                  <a:schemeClr val="accent1"/>
                </a:solidFill>
              </a:rPr>
              <a:t>Performance picture</a:t>
            </a:r>
            <a:endParaRPr lang="en-US" sz="1600" dirty="0"/>
          </a:p>
        </p:txBody>
      </p:sp>
      <p:sp>
        <p:nvSpPr>
          <p:cNvPr id="8" name="card body Performance picture"/>
          <p:cNvSpPr txBox="1"/>
          <p:nvPr/>
        </p:nvSpPr>
        <p:spPr>
          <a:xfrm>
            <a:off x="749808" y="4873752"/>
            <a:ext cx="10692079" cy="109728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Stages 1 to 3 are linear in the number of nodes and qubit incidences. commutes_between is O(1) thanks to run_starts; the walk and splits_same_pair_run still scan wire segments.</a:t>
            </a:r>
            <a:endParaRPr lang="en-US" sz="1250" dirty="0"/>
          </a:p>
          <a:p>
            <a:pPr marL="152400" indent="-152400">
              <a:spcAft>
                <a:spcPts val="500"/>
              </a:spcAft>
              <a:buSzPct val="100000"/>
              <a:buChar char="•"/>
            </a:pPr>
            <a:r>
              <a:rPr lang="en-US" sz="1250" dirty="0">
                <a:solidFill>
                  <a:schemeClr val="tx1"/>
                </a:solidFill>
              </a:rPr>
              <a:t>Letters are looked up once per (name, width) per run: covering all 27 families costs 14×3 + 13×6 = 120 raw probes, regardless of how many gates or angles the circuit has.</a:t>
            </a:r>
            <a:endParaRPr lang="en-US" sz="1250" dirty="0"/>
          </a:p>
          <a:p>
            <a:pPr marL="152400" indent="-152400">
              <a:spcAft>
                <a:spcPts val="500"/>
              </a:spcAft>
              <a:buSzPct val="100000"/>
              <a:buChar char="•"/>
            </a:pPr>
            <a:r>
              <a:rPr lang="en-US" sz="1250" dirty="0">
                <a:solidFill>
                  <a:schemeClr val="tx1"/>
                </a:solidFill>
              </a:rPr>
              <a:t>Exactly diagonal custom unitaries take the matrix-inspection branch and are not cached by name.</a:t>
            </a:r>
            <a:endParaRPr lang="en-US" sz="12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1094415" cy="731520"/>
          </a:xfrm>
          <a:prstGeom prst="rect">
            <a:avLst/>
          </a:prstGeom>
          <a:noFill/>
          <a:ln/>
        </p:spPr>
        <p:txBody>
          <a:bodyPr wrap="square" lIns="0" tIns="0" rIns="0" bIns="0" rtlCol="0"/>
          <a:lstStyle/>
          <a:p>
            <a:pPr algn="l" indent="0" marL="0">
              <a:buNone/>
            </a:pPr>
            <a:r>
              <a:rPr lang="en-US" sz="2200" b="1" dirty="0">
                <a:solidFill>
                  <a:schemeClr val="accent2"/>
                </a:solidFill>
              </a:rPr>
              <a:t>Part 4</a:t>
            </a:r>
            <a:endParaRPr lang="en-US" sz="2200" dirty="0"/>
          </a:p>
        </p:txBody>
      </p:sp>
      <p:sp>
        <p:nvSpPr>
          <p:cNvPr id="3" name="Text 0"/>
          <p:cNvSpPr/>
          <p:nvPr>
            <p:ph idx="101" type="title" hasCustomPrompt="1"/>
          </p:nvPr>
        </p:nvSpPr>
        <p:spPr>
          <a:xfrm>
            <a:off x="548640" y="2560320"/>
            <a:ext cx="11094415" cy="1280160"/>
          </a:xfrm>
          <a:prstGeom prst="rect">
            <a:avLst/>
          </a:prstGeom>
          <a:noFill/>
          <a:ln/>
        </p:spPr>
        <p:txBody>
          <a:bodyPr wrap="square" lIns="0" tIns="0" rIns="0" bIns="0" rtlCol="0"/>
          <a:lstStyle/>
          <a:p>
            <a:pPr algn="l" indent="0" marL="0">
              <a:buNone/>
            </a:pPr>
            <a:r>
              <a:rPr lang="en-US" sz="4200" b="1" dirty="0">
                <a:solidFill>
                  <a:schemeClr val="bg1"/>
                </a:solidFill>
              </a:rPr>
              <a:t>The CommutationChecker change</a:t>
            </a:r>
            <a:endParaRPr lang="en-US" sz="4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What the CommutationChecker is</a:t>
            </a:r>
            <a:endParaRPr lang="en-US" sz="3000" dirty="0"/>
          </a:p>
        </p:txBody>
      </p:sp>
      <p:pic>
        <p:nvPicPr>
          <p:cNvPr id="4" name="19_checker_layers" descr="/private/tmp/claude-501/-Users-ophir-PycharmProjects-qiskit-swap-absorption/0081b426-35e2-4c6c-a613-c495a6fcf015/scratchpad/work/svg_out/19_checker_layer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23848" y="1188720"/>
            <a:ext cx="9144000" cy="3657600"/>
          </a:xfrm>
          <a:prstGeom prst="rect">
            <a:avLst/>
          </a:prstGeom>
        </p:spPr>
      </p:pic>
      <p:sp>
        <p:nvSpPr>
          <p:cNvPr id="5" name="card Three Python APIs on the class"/>
          <p:cNvSpPr/>
          <p:nvPr/>
        </p:nvSpPr>
        <p:spPr>
          <a:xfrm>
            <a:off x="548640" y="5074920"/>
            <a:ext cx="5394960" cy="1280160"/>
          </a:xfrm>
          <a:prstGeom prst="roundRect">
            <a:avLst>
              <a:gd name="adj" fmla="val 8571"/>
            </a:avLst>
          </a:prstGeom>
          <a:solidFill>
            <a:schemeClr val="bg2"/>
          </a:solidFill>
          <a:ln w="12700">
            <a:solidFill>
              <a:schemeClr val="bg2"/>
            </a:solidFill>
            <a:prstDash val="solid"/>
          </a:ln>
        </p:spPr>
      </p:sp>
      <p:sp>
        <p:nvSpPr>
          <p:cNvPr id="6" name="card title Three Python APIs on the class"/>
          <p:cNvSpPr txBox="1"/>
          <p:nvPr/>
        </p:nvSpPr>
        <p:spPr>
          <a:xfrm>
            <a:off x="749808" y="5212080"/>
            <a:ext cx="4992624" cy="365760"/>
          </a:xfrm>
          <a:prstGeom prst="rect">
            <a:avLst/>
          </a:prstGeom>
          <a:noFill/>
          <a:ln/>
        </p:spPr>
        <p:txBody>
          <a:bodyPr wrap="square" lIns="0" tIns="0" rIns="0" bIns="0" rtlCol="0" anchor="ctr"/>
          <a:lstStyle/>
          <a:p>
            <a:pPr indent="0" marL="0">
              <a:buNone/>
            </a:pPr>
            <a:r>
              <a:rPr lang="en-US" sz="1400" b="1" dirty="0">
                <a:solidFill>
                  <a:schemeClr val="accent1"/>
                </a:solidFill>
              </a:rPr>
              <a:t>Three Python APIs on the class</a:t>
            </a:r>
            <a:endParaRPr lang="en-US" sz="1400" dirty="0"/>
          </a:p>
        </p:txBody>
      </p:sp>
      <p:sp>
        <p:nvSpPr>
          <p:cNvPr id="7" name="card body Three Python APIs on the class"/>
          <p:cNvSpPr txBox="1"/>
          <p:nvPr/>
        </p:nvSpPr>
        <p:spPr>
          <a:xfrm>
            <a:off x="749808" y="5605272"/>
            <a:ext cx="4992624" cy="64008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commute(...) → bool and commute_nodes(...) → bool are the general decisions, unchanged. check_commutation_entries(...) → bool | None is the raw table read, repaired here.</a:t>
            </a:r>
            <a:endParaRPr lang="en-US" sz="1250" dirty="0"/>
          </a:p>
        </p:txBody>
      </p:sp>
      <p:sp>
        <p:nvSpPr>
          <p:cNvPr id="8" name="card The instance the pass uses"/>
          <p:cNvSpPr/>
          <p:nvPr/>
        </p:nvSpPr>
        <p:spPr>
          <a:xfrm>
            <a:off x="6245352" y="5074920"/>
            <a:ext cx="5394960" cy="1280160"/>
          </a:xfrm>
          <a:prstGeom prst="roundRect">
            <a:avLst>
              <a:gd name="adj" fmla="val 8571"/>
            </a:avLst>
          </a:prstGeom>
          <a:solidFill>
            <a:schemeClr val="bg2"/>
          </a:solidFill>
          <a:ln w="12700">
            <a:solidFill>
              <a:schemeClr val="bg2"/>
            </a:solidFill>
            <a:prstDash val="solid"/>
          </a:ln>
        </p:spPr>
      </p:sp>
      <p:sp>
        <p:nvSpPr>
          <p:cNvPr id="9" name="card title The instance the pass uses"/>
          <p:cNvSpPr txBox="1"/>
          <p:nvPr/>
        </p:nvSpPr>
        <p:spPr>
          <a:xfrm>
            <a:off x="6446520" y="5212080"/>
            <a:ext cx="4992624" cy="365760"/>
          </a:xfrm>
          <a:prstGeom prst="rect">
            <a:avLst/>
          </a:prstGeom>
          <a:noFill/>
          <a:ln/>
        </p:spPr>
        <p:txBody>
          <a:bodyPr wrap="square" lIns="0" tIns="0" rIns="0" bIns="0" rtlCol="0" anchor="ctr"/>
          <a:lstStyle/>
          <a:p>
            <a:pPr indent="0" marL="0">
              <a:buNone/>
            </a:pPr>
            <a:r>
              <a:rPr lang="en-US" sz="1400" b="1" dirty="0">
                <a:solidFill>
                  <a:schemeClr val="accent1"/>
                </a:solidFill>
              </a:rPr>
              <a:t>The instance the pass uses</a:t>
            </a:r>
            <a:endParaRPr lang="en-US" sz="1400" dirty="0"/>
          </a:p>
        </p:txBody>
      </p:sp>
      <p:sp>
        <p:nvSpPr>
          <p:cNvPr id="10" name="card body The instance the pass uses"/>
          <p:cNvSpPr txBox="1"/>
          <p:nvPr/>
        </p:nvSpPr>
        <p:spPr>
          <a:xfrm>
            <a:off x="6446520" y="5605272"/>
            <a:ext cx="4992624" cy="64008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SessionCommutationChecker (commutation_library.py) wraps get_standard_commutation_checker(), so its table is populated. A bare CommutationChecker() has an empty table and answers None.</a:t>
            </a:r>
            <a:endParaRPr lang="en-US" sz="12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defect and the repair</a:t>
            </a:r>
            <a:endParaRPr lang="en-US" sz="3000" dirty="0"/>
          </a:p>
        </p:txBody>
      </p:sp>
      <p:pic>
        <p:nvPicPr>
          <p:cNvPr id="4" name="20_checker_bug" descr="/private/tmp/claude-501/-Users-ophir-PycharmProjects-qiskit-swap-absorption/0081b426-35e2-4c6c-a613-c495a6fcf015/scratchpad/work/svg_out/20_checker_bu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3513231"/>
          </a:xfrm>
          <a:prstGeom prst="rect">
            <a:avLst/>
          </a:prstGeom>
        </p:spPr>
      </p:pic>
      <p:sp>
        <p:nvSpPr>
          <p:cNvPr id="5" name="code card"/>
          <p:cNvSpPr/>
          <p:nvPr/>
        </p:nvSpPr>
        <p:spPr>
          <a:xfrm>
            <a:off x="548640" y="4884831"/>
            <a:ext cx="5394960" cy="1417320"/>
          </a:xfrm>
          <a:prstGeom prst="roundRect">
            <a:avLst>
              <a:gd name="adj" fmla="val 6452"/>
            </a:avLst>
          </a:prstGeom>
          <a:solidFill>
            <a:schemeClr val="bg2"/>
          </a:solidFill>
          <a:ln w="12700">
            <a:solidFill>
              <a:schemeClr val="bg2"/>
            </a:solidFill>
            <a:prstDash val="solid"/>
          </a:ln>
        </p:spPr>
      </p:sp>
      <p:sp>
        <p:nvSpPr>
          <p:cNvPr id="6" name="code"/>
          <p:cNvSpPr txBox="1"/>
          <p:nvPr/>
        </p:nvSpPr>
        <p:spPr>
          <a:xfrm>
            <a:off x="731520" y="5021991"/>
            <a:ext cx="5029200" cy="114300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 before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return self.cc.library.check_commutation_entries(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first_op, first_qargs, second_op, second_qargs)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AttributeError: no attribute 'library'</a:t>
            </a:r>
            <a:endParaRPr lang="en-US" sz="1100" dirty="0"/>
          </a:p>
        </p:txBody>
      </p:sp>
      <p:sp>
        <p:nvSpPr>
          <p:cNvPr id="7" name="code card"/>
          <p:cNvSpPr/>
          <p:nvPr/>
        </p:nvSpPr>
        <p:spPr>
          <a:xfrm>
            <a:off x="6245352" y="4884831"/>
            <a:ext cx="5394960" cy="1417320"/>
          </a:xfrm>
          <a:prstGeom prst="roundRect">
            <a:avLst>
              <a:gd name="adj" fmla="val 6452"/>
            </a:avLst>
          </a:prstGeom>
          <a:solidFill>
            <a:schemeClr val="bg2"/>
          </a:solidFill>
          <a:ln w="12700">
            <a:solidFill>
              <a:schemeClr val="bg2"/>
            </a:solidFill>
            <a:prstDash val="solid"/>
          </a:ln>
        </p:spPr>
      </p:sp>
      <p:sp>
        <p:nvSpPr>
          <p:cNvPr id="8" name="code"/>
          <p:cNvSpPr txBox="1"/>
          <p:nvPr/>
        </p:nvSpPr>
        <p:spPr>
          <a:xfrm>
            <a:off x="6428232" y="5021991"/>
            <a:ext cx="5029200" cy="114300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 after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return self.cc.check_commutation_entries(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first_op, tuple(first_qargs),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second_op, tuple(second_qargs))</a:t>
            </a:r>
            <a:endParaRPr lang="en-US" sz="11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Inside the new Rust binding</a:t>
            </a:r>
            <a:endParaRPr lang="en-US" sz="3000" dirty="0"/>
          </a:p>
        </p:txBody>
      </p:sp>
      <p:pic>
        <p:nvPicPr>
          <p:cNvPr id="4" name="21_binding_steps" descr="/private/tmp/claude-501/-Users-ophir-PycharmProjects-qiskit-swap-absorption/0081b426-35e2-4c6c-a613-c495a6fcf015/scratchpad/work/svg_out/21_binding_steps.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188720"/>
            <a:ext cx="11094415" cy="4622673"/>
          </a:xfrm>
          <a:prstGeom prst="rect">
            <a:avLst/>
          </a:prstGeom>
        </p:spPr>
      </p:pic>
      <p:sp>
        <p:nvSpPr>
          <p:cNvPr id="5" name="caption"/>
          <p:cNvSpPr txBox="1"/>
          <p:nvPr/>
        </p:nvSpPr>
        <p:spPr>
          <a:xfrm>
            <a:off x="548640" y="5994273"/>
            <a:ext cx="11094415" cy="457200"/>
          </a:xfrm>
          <a:prstGeom prst="rect">
            <a:avLst/>
          </a:prstGeom>
          <a:noFill/>
          <a:ln/>
        </p:spPr>
        <p:txBody>
          <a:bodyPr wrap="square" lIns="0" tIns="0" rIns="0" bIns="0" rtlCol="0" anchor="t"/>
          <a:lstStyle/>
          <a:p>
            <a:pPr indent="0" marL="0">
              <a:buNone/>
            </a:pPr>
            <a:r>
              <a:rPr lang="en-US" sz="1300" dirty="0">
                <a:solidFill>
                  <a:schemeClr val="accent5"/>
                </a:solidFill>
              </a:rPr>
              <a:t>Relative placement lists, for each qubit of the canonical first operation, its position in the second, or None. X(b) against CX(a,b) has placement (1,); X(a) has (0,).</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contract of check_commutation_entries</a:t>
            </a:r>
            <a:endParaRPr lang="en-US" sz="3000" dirty="0"/>
          </a:p>
        </p:txBody>
      </p:sp>
      <p:graphicFrame>
        <p:nvGraphicFramePr>
          <p:cNvPr id="47"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5669280" cy="914400"/>
        </p:xfrm>
        <a:graphic>
          <a:graphicData uri="http://schemas.openxmlformats.org/drawingml/2006/table">
            <a:tbl>
              <a:tblPr/>
              <a:tblGrid>
                <a:gridCol w="1371600"/>
                <a:gridCol w="4297680"/>
              </a:tblGrid>
              <a:tr h="566928">
                <a:tc>
                  <a:txBody>
                    <a:bodyPr/>
                    <a:lstStyle/>
                    <a:p>
                      <a:pPr indent="0" marL="0">
                        <a:buNone/>
                      </a:pPr>
                      <a:r>
                        <a:rPr lang="en-US" sz="1200" b="1" dirty="0">
                          <a:solidFill>
                            <a:schemeClr val="bg1"/>
                          </a:solidFill>
                        </a:rPr>
                        <a:t>Result</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Meaning</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566928">
                <a:tc>
                  <a:txBody>
                    <a:bodyPr/>
                    <a:lstStyle/>
                    <a:p>
                      <a:pPr indent="0" marL="0">
                        <a:buNone/>
                      </a:pPr>
                      <a:r>
                        <a:rPr lang="en-US" sz="1200" b="1" dirty="0">
                          <a:solidFill>
                            <a:srgbClr val="0E8A7D"/>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The table stores a positive relation for this name pair and placement.</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566928">
                <a:tc>
                  <a:txBody>
                    <a:bodyPr/>
                    <a:lstStyle/>
                    <a:p>
                      <a:pPr indent="0" marL="0">
                        <a:buNone/>
                      </a:pPr>
                      <a:r>
                        <a:rPr lang="en-US" sz="1200" b="1" dirty="0">
                          <a:solidFill>
                            <a:srgbClr val="C7484A"/>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The table stores a negative relation. For a parameterized family this does not rule out commutation at special angles.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56692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None</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No applicable entry, the table is empty, or the two operations share no qubit.</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56692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QiskitError</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A qubit sequence has the wrong length for its operation, or repeats a qubit. Qubits shared between the operations are fine.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sp>
        <p:nvSpPr>
          <p:cNvPr id="5" name="code card"/>
          <p:cNvSpPr/>
          <p:nvPr/>
        </p:nvSpPr>
        <p:spPr>
          <a:xfrm>
            <a:off x="6446520" y="1280160"/>
            <a:ext cx="5193792" cy="2880360"/>
          </a:xfrm>
          <a:prstGeom prst="roundRect">
            <a:avLst>
              <a:gd name="adj" fmla="val 3175"/>
            </a:avLst>
          </a:prstGeom>
          <a:solidFill>
            <a:schemeClr val="bg2"/>
          </a:solidFill>
          <a:ln w="12700">
            <a:solidFill>
              <a:schemeClr val="bg2"/>
            </a:solidFill>
            <a:prstDash val="solid"/>
          </a:ln>
        </p:spPr>
      </p:sp>
      <p:sp>
        <p:nvSpPr>
          <p:cNvPr id="6" name="code"/>
          <p:cNvSpPr txBox="1"/>
          <p:nvPr/>
        </p:nvSpPr>
        <p:spPr>
          <a:xfrm>
            <a:off x="6629400" y="1417320"/>
            <a:ext cx="4828032" cy="2606040"/>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from qiskit.circuit.commutation_library import (</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SessionCommutationChecker as checker)</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from qiskit.circuit.library import (</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CXGate, CPhaseGate, XGate, ZGate)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lookup = checker.check_commutation_entries</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lookup(ZGate(), [0], CXGate(), [0, 1])         # True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lookup(XGate(), [1], CXGate(), [0, 1])         # True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lookup(XGate(), [0], CXGate(), [0, 1])         # False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lookup(XGate(), [2], CXGate(), [0, 1])         # None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lookup(ZGate(), [0], CPhaseGate(0.3), [0, 1])  # None</a:t>
            </a:r>
            <a:endParaRPr lang="en-US" sz="1050" dirty="0"/>
          </a:p>
        </p:txBody>
      </p:sp>
      <p:sp>
        <p:nvSpPr>
          <p:cNvPr id="7" name="card What the raw lookup deliberately does not do"/>
          <p:cNvSpPr/>
          <p:nvPr/>
        </p:nvSpPr>
        <p:spPr>
          <a:xfrm>
            <a:off x="548640" y="4343400"/>
            <a:ext cx="11094415" cy="1783080"/>
          </a:xfrm>
          <a:prstGeom prst="roundRect">
            <a:avLst>
              <a:gd name="adj" fmla="val 6154"/>
            </a:avLst>
          </a:prstGeom>
          <a:solidFill>
            <a:schemeClr val="bg2"/>
          </a:solidFill>
          <a:ln w="12700">
            <a:solidFill>
              <a:schemeClr val="bg2"/>
            </a:solidFill>
            <a:prstDash val="solid"/>
          </a:ln>
        </p:spPr>
      </p:sp>
      <p:sp>
        <p:nvSpPr>
          <p:cNvPr id="8" name="card title What the raw lookup deliberately does not do"/>
          <p:cNvSpPr txBox="1"/>
          <p:nvPr/>
        </p:nvSpPr>
        <p:spPr>
          <a:xfrm>
            <a:off x="749808" y="4480560"/>
            <a:ext cx="10692079" cy="365760"/>
          </a:xfrm>
          <a:prstGeom prst="rect">
            <a:avLst/>
          </a:prstGeom>
          <a:noFill/>
          <a:ln/>
        </p:spPr>
        <p:txBody>
          <a:bodyPr wrap="square" lIns="0" tIns="0" rIns="0" bIns="0" rtlCol="0" anchor="ctr"/>
          <a:lstStyle/>
          <a:p>
            <a:pPr indent="0" marL="0">
              <a:buNone/>
            </a:pPr>
            <a:r>
              <a:rPr lang="en-US" sz="1600" b="1" dirty="0">
                <a:solidFill>
                  <a:schemeClr val="accent1"/>
                </a:solidFill>
              </a:rPr>
              <a:t>What the raw lookup deliberately does not do</a:t>
            </a:r>
            <a:endParaRPr lang="en-US" sz="1600" dirty="0"/>
          </a:p>
        </p:txBody>
      </p:sp>
      <p:sp>
        <p:nvSpPr>
          <p:cNvPr id="9" name="card body What the raw lookup deliberately does not do"/>
          <p:cNvSpPr txBox="1"/>
          <p:nvPr/>
        </p:nvSpPr>
        <p:spPr>
          <a:xfrm>
            <a:off x="749808" y="4873752"/>
            <a:ext cx="10692079" cy="114300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It never reads parameter values, never maps rotations to generators, never applies the checker's gates filter, never unrolls a definition and never builds a matrix.</a:t>
            </a:r>
            <a:endParaRPr lang="en-US" sz="1250" dirty="0"/>
          </a:p>
          <a:p>
            <a:pPr marL="152400" indent="-152400">
              <a:spcAft>
                <a:spcPts val="500"/>
              </a:spcAft>
              <a:buSzPct val="100000"/>
              <a:buChar char="•"/>
            </a:pPr>
            <a:r>
              <a:rPr lang="en-US" sz="1250" dirty="0">
                <a:solidFill>
                  <a:schemeClr val="tx1"/>
                </a:solidFill>
              </a:rPr>
              <a:t>It does not authenticate names: a custom gate called 'x' gets the standard 'x' entry. That is why the swap pass checks is_standard_gate() first.</a:t>
            </a:r>
            <a:endParaRPr lang="en-US" sz="1250" dirty="0"/>
          </a:p>
          <a:p>
            <a:pPr marL="152400" indent="-152400">
              <a:spcAft>
                <a:spcPts val="500"/>
              </a:spcAft>
              <a:buSzPct val="100000"/>
              <a:buChar char="•"/>
            </a:pPr>
            <a:r>
              <a:rPr lang="en-US" sz="1250" dirty="0">
                <a:solidFill>
                  <a:schemeClr val="tx1"/>
                </a:solidFill>
              </a:rPr>
              <a:t>Explicitly supplied tables must use the canonical key order; reversed keys are not searched. Calling with the operations reversed is fine because inputs are canonicalized.</a:t>
            </a:r>
            <a:endParaRPr lang="en-US" sz="12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Why not just call commute()?</a:t>
            </a:r>
            <a:endParaRPr lang="en-US" sz="3000" dirty="0"/>
          </a:p>
        </p:txBody>
      </p:sp>
      <p:graphicFrame>
        <p:nvGraphicFramePr>
          <p:cNvPr id="48"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651760"/>
                <a:gridCol w="4206240"/>
                <a:gridCol w="4233672"/>
              </a:tblGrid>
              <a:tr h="457200">
                <a:tc>
                  <a:txBody>
                    <a:bodyPr/>
                    <a:lstStyle/>
                    <a:p>
                      <a:pPr indent="0" marL="0">
                        <a:buNone/>
                      </a:pPr>
                      <a:r>
                        <a:rPr lang="en-US" sz="1200" b="1" dirty="0">
                          <a:solidFill>
                            <a:schemeClr val="bg1"/>
                          </a:solidFill>
                        </a:rPr>
                        <a:t>Question</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commute(...)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check_commutation_entries(...)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457200">
                <a:tc>
                  <a:txBody>
                    <a:bodyPr/>
                    <a:lstStyle/>
                    <a:p>
                      <a:pPr indent="0" marL="0">
                        <a:buNone/>
                      </a:pPr>
                      <a:r>
                        <a:rPr lang="en-US" sz="1200" dirty="0">
                          <a:solidFill>
                            <a:schemeClr val="tx1"/>
                          </a:solidFill>
                        </a:rPr>
                        <a:t>Reads parameter values?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Yes: rotation normalization, near-identity acceptance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Never</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rPr>
                        <a:t>Uses matrices or tolerances?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Yes, with a 1e-12 floor and matrix_max_num_qubits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Never</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rPr>
                        <a:t>Applies the gates filter?</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Yes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No</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rPr>
                        <a:t>Result</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bool; False may mean 'not commuting' or 'not checked'</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True / False / None, as stored in the table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rPr>
                        <a:t>Disjoint qubits</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Commute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None: compressed entries describe overlaps only</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rPr>
                        <a:t>RY(1e-6) versus Z</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May be accepted as identity</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False for the whole family: the move is blocked</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sp>
        <p:nvSpPr>
          <p:cNvPr id="5" name="card The swap pass only trusts 'is True'"/>
          <p:cNvSpPr/>
          <p:nvPr/>
        </p:nvSpPr>
        <p:spPr>
          <a:xfrm>
            <a:off x="548640" y="4709160"/>
            <a:ext cx="5394960" cy="1417320"/>
          </a:xfrm>
          <a:prstGeom prst="roundRect">
            <a:avLst>
              <a:gd name="adj" fmla="val 7742"/>
            </a:avLst>
          </a:prstGeom>
          <a:solidFill>
            <a:schemeClr val="bg2"/>
          </a:solidFill>
          <a:ln w="12700">
            <a:solidFill>
              <a:schemeClr val="bg2"/>
            </a:solidFill>
            <a:prstDash val="solid"/>
          </a:ln>
        </p:spPr>
      </p:sp>
      <p:sp>
        <p:nvSpPr>
          <p:cNvPr id="6" name="card title The swap pass only trusts &amp;apos;is True&amp;apos;"/>
          <p:cNvSpPr txBox="1"/>
          <p:nvPr/>
        </p:nvSpPr>
        <p:spPr>
          <a:xfrm>
            <a:off x="749808" y="484632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The swap pass only trusts 'is True'</a:t>
            </a:r>
            <a:endParaRPr lang="en-US" sz="1600" dirty="0"/>
          </a:p>
        </p:txBody>
      </p:sp>
      <p:sp>
        <p:nvSpPr>
          <p:cNvPr id="7" name="card body The swap pass only trusts 'is True'"/>
          <p:cNvSpPr txBox="1"/>
          <p:nvPr/>
        </p:nvSpPr>
        <p:spPr>
          <a:xfrm>
            <a:off x="749808" y="5239512"/>
            <a:ext cx="4992624" cy="77724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Both False and None simply mean 'no letter for this axis'. Zero or several positive axes on a wire give '-'. No approximate fallback exists.</a:t>
            </a:r>
            <a:endParaRPr lang="en-US" sz="1250" dirty="0"/>
          </a:p>
        </p:txBody>
      </p:sp>
      <p:sp>
        <p:nvSpPr>
          <p:cNvPr id="8" name="card Not a universal exactness oracle"/>
          <p:cNvSpPr/>
          <p:nvPr/>
        </p:nvSpPr>
        <p:spPr>
          <a:xfrm>
            <a:off x="6245352" y="4709160"/>
            <a:ext cx="5394960" cy="1417320"/>
          </a:xfrm>
          <a:prstGeom prst="roundRect">
            <a:avLst>
              <a:gd name="adj" fmla="val 7742"/>
            </a:avLst>
          </a:prstGeom>
          <a:solidFill>
            <a:schemeClr val="bg2"/>
          </a:solidFill>
          <a:ln w="12700">
            <a:solidFill>
              <a:schemeClr val="bg2"/>
            </a:solidFill>
            <a:prstDash val="solid"/>
          </a:ln>
        </p:spPr>
      </p:sp>
      <p:sp>
        <p:nvSpPr>
          <p:cNvPr id="9" name="card title Not a universal exactness oracle"/>
          <p:cNvSpPr txBox="1"/>
          <p:nvPr/>
        </p:nvSpPr>
        <p:spPr>
          <a:xfrm>
            <a:off x="6446520" y="4846320"/>
            <a:ext cx="4992624" cy="365760"/>
          </a:xfrm>
          <a:prstGeom prst="rect">
            <a:avLst/>
          </a:prstGeom>
          <a:noFill/>
          <a:ln/>
        </p:spPr>
        <p:txBody>
          <a:bodyPr wrap="square" lIns="0" tIns="0" rIns="0" bIns="0" rtlCol="0" anchor="ctr"/>
          <a:lstStyle/>
          <a:p>
            <a:pPr indent="0" marL="0">
              <a:buNone/>
            </a:pPr>
            <a:r>
              <a:rPr lang="en-US" sz="1600" b="1" dirty="0">
                <a:solidFill>
                  <a:schemeClr val="accent1"/>
                </a:solidFill>
              </a:rPr>
              <a:t>Not a universal exactness oracle</a:t>
            </a:r>
            <a:endParaRPr lang="en-US" sz="1600" dirty="0"/>
          </a:p>
        </p:txBody>
      </p:sp>
      <p:sp>
        <p:nvSpPr>
          <p:cNvPr id="10" name="card body Not a universal exactness oracle"/>
          <p:cNvSpPr txBox="1"/>
          <p:nvPr/>
        </p:nvSpPr>
        <p:spPr>
          <a:xfrm>
            <a:off x="6446520" y="5239512"/>
            <a:ext cx="4992624" cy="77724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The table is generated numerically. Exactness here rests on the 27 admitted families and their algebraic identities, not on the table alone.</a:t>
            </a:r>
            <a:endParaRPr lang="en-US" sz="125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Files changed and how they are tested</a:t>
            </a:r>
            <a:endParaRPr lang="en-US" sz="3000" dirty="0"/>
          </a:p>
        </p:txBody>
      </p:sp>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4846320"/>
                <a:gridCol w="6245352"/>
              </a:tblGrid>
              <a:tr h="457200">
                <a:tc>
                  <a:txBody>
                    <a:bodyPr/>
                    <a:lstStyle/>
                    <a:p>
                      <a:pPr indent="0" marL="0">
                        <a:buNone/>
                      </a:pPr>
                      <a:r>
                        <a:rPr lang="en-US" sz="1200" b="1" dirty="0">
                          <a:solidFill>
                            <a:schemeClr val="bg1"/>
                          </a:solidFill>
                        </a:rPr>
                        <a:t>File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Change</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chemeClr val="accent1"/>
                    </a:solidFill>
                  </a:tcPr>
                </a:tc>
              </a:tr>
              <a:tr h="45720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qiskit/circuit/commutation_checker.py</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Repaired forwarding, Sequence[Qubit | int] annotations, documented contract</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crates/transpiler/src/commutation_checker.rs</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New Python-callable binding: validation, disjoint handling, canonical order, library lookup</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qiskit/transpiler/preset_passmanagers/_swap_absorption.py</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Hard-coded _WIRE_PAULIS table replaced by allowlist + probes + representatives + per-run cache; later refactored (ab28929ff) into four stage functions and three index records, behaviour unchanged</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test/python/circuit/test_commutation_checker.py</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TestCommutationTableLookup: placements, missing/disjoint, no fallback, invalid qubits, custom tables, no rotation normalization</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test/python/transpiler/test_swap_absorption.py</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Labels, exactness, unsupported operations, per-run lookup cache, movement, preset integration</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r h="45720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releasenotes/notes/fix-commutation-table-lookup-….yaml</a:t>
                      </a:r>
                      <a:endParaRPr lang="en-US" sz="1200" dirty="0">
                        <a:latin typeface="Courier New" charset="0"/>
                        <a:ea typeface="Courier New" charset="0"/>
                        <a:cs typeface="Courier New" charset="0"/>
                      </a:endParaRPr>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c>
                  <a:txBody>
                    <a:bodyPr/>
                    <a:lstStyle/>
                    <a:p>
                      <a:pPr indent="0" marL="0">
                        <a:buNone/>
                      </a:pPr>
                      <a:r>
                        <a:rPr lang="en-US" sz="1200" dirty="0">
                          <a:solidFill>
                            <a:schemeClr val="tx1"/>
                          </a:solidFill>
                        </a:rPr>
                        <a:t>Release note for the repaired API</a:t>
                      </a:r>
                      <a:endParaRPr lang="en-US" sz="1200" dirty="0"/>
                    </a:p>
                  </a:txBody>
                  <a:tcPr marL="73152" marR="73152" marT="45720" marB="4572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tcPr>
                </a:tc>
              </a:tr>
            </a:tbl>
          </a:graphicData>
        </a:graphic>
      </p:graphicFrame>
      <p:sp>
        <p:nvSpPr>
          <p:cNvPr id="5" name="code card"/>
          <p:cNvSpPr/>
          <p:nvPr/>
        </p:nvSpPr>
        <p:spPr>
          <a:xfrm>
            <a:off x="548640" y="4709160"/>
            <a:ext cx="6675120" cy="1005840"/>
          </a:xfrm>
          <a:prstGeom prst="roundRect">
            <a:avLst>
              <a:gd name="adj" fmla="val 9091"/>
            </a:avLst>
          </a:prstGeom>
          <a:solidFill>
            <a:schemeClr val="bg2"/>
          </a:solidFill>
          <a:ln w="12700">
            <a:solidFill>
              <a:schemeClr val="bg2"/>
            </a:solidFill>
            <a:prstDash val="solid"/>
          </a:ln>
        </p:spPr>
      </p:sp>
      <p:sp>
        <p:nvSpPr>
          <p:cNvPr id="6" name="code"/>
          <p:cNvSpPr txBox="1"/>
          <p:nvPr/>
        </p:nvSpPr>
        <p:spPr>
          <a:xfrm>
            <a:off x="731520" y="4846320"/>
            <a:ext cx="6309360" cy="73152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PYTHONPATH=. python -m unittest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test.python.circuit.test_commutation_checker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test.python.transpiler.test_swap_absorption</a:t>
            </a:r>
            <a:endParaRPr lang="en-US" sz="1100" dirty="0"/>
          </a:p>
        </p:txBody>
      </p:sp>
      <p:sp>
        <p:nvSpPr>
          <p:cNvPr id="7" name="card Tests worth opening first"/>
          <p:cNvSpPr/>
          <p:nvPr/>
        </p:nvSpPr>
        <p:spPr>
          <a:xfrm>
            <a:off x="7452360" y="4572000"/>
            <a:ext cx="4187952" cy="1554480"/>
          </a:xfrm>
          <a:prstGeom prst="roundRect">
            <a:avLst>
              <a:gd name="adj" fmla="val 7059"/>
            </a:avLst>
          </a:prstGeom>
          <a:solidFill>
            <a:schemeClr val="bg2"/>
          </a:solidFill>
          <a:ln w="12700">
            <a:solidFill>
              <a:schemeClr val="bg2"/>
            </a:solidFill>
            <a:prstDash val="solid"/>
          </a:ln>
        </p:spPr>
      </p:sp>
      <p:sp>
        <p:nvSpPr>
          <p:cNvPr id="8" name="card title Tests worth opening first"/>
          <p:cNvSpPr txBox="1"/>
          <p:nvPr/>
        </p:nvSpPr>
        <p:spPr>
          <a:xfrm>
            <a:off x="7653528" y="4709160"/>
            <a:ext cx="3785616" cy="365760"/>
          </a:xfrm>
          <a:prstGeom prst="rect">
            <a:avLst/>
          </a:prstGeom>
          <a:noFill/>
          <a:ln/>
        </p:spPr>
        <p:txBody>
          <a:bodyPr wrap="square" lIns="0" tIns="0" rIns="0" bIns="0" rtlCol="0" anchor="ctr"/>
          <a:lstStyle/>
          <a:p>
            <a:pPr indent="0" marL="0">
              <a:buNone/>
            </a:pPr>
            <a:r>
              <a:rPr lang="en-US" sz="1400" b="1" dirty="0">
                <a:solidFill>
                  <a:schemeClr val="accent1"/>
                </a:solidFill>
              </a:rPr>
              <a:t>Tests worth opening first</a:t>
            </a:r>
            <a:endParaRPr lang="en-US" sz="1400" dirty="0"/>
          </a:p>
        </p:txBody>
      </p:sp>
      <p:sp>
        <p:nvSpPr>
          <p:cNvPr id="9" name="card body Tests worth opening first"/>
          <p:cNvSpPr txBox="1"/>
          <p:nvPr/>
        </p:nvSpPr>
        <p:spPr>
          <a:xfrm>
            <a:off x="7653528" y="5102352"/>
            <a:ext cx="3785616" cy="9144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test_standard_wire_labels: the 27 letters for every angle and qubit order.</a:t>
            </a:r>
            <a:endParaRPr lang="en-US" sz="1200" dirty="0"/>
          </a:p>
          <a:p>
            <a:pPr marL="152400" indent="-152400">
              <a:spcAft>
                <a:spcPts val="500"/>
              </a:spcAft>
              <a:buSzPct val="100000"/>
              <a:buChar char="•"/>
            </a:pPr>
            <a:r>
              <a:rPr lang="en-US" sz="1200" dirty="0">
                <a:solidFill>
                  <a:schemeClr val="tx1"/>
                </a:solidFill>
              </a:rPr>
              <a:t>test_lookup_cache_per_run: lookups happen only in preprocessing and never via commute().</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Summary</a:t>
            </a:r>
            <a:endParaRPr lang="en-US" sz="3000" dirty="0"/>
          </a:p>
        </p:txBody>
      </p:sp>
      <p:sp>
        <p:nvSpPr>
          <p:cNvPr id="4" name="card What"/>
          <p:cNvSpPr/>
          <p:nvPr/>
        </p:nvSpPr>
        <p:spPr>
          <a:xfrm>
            <a:off x="548640" y="1280160"/>
            <a:ext cx="3566160" cy="2331720"/>
          </a:xfrm>
          <a:prstGeom prst="roundRect">
            <a:avLst>
              <a:gd name="adj" fmla="val 4706"/>
            </a:avLst>
          </a:prstGeom>
          <a:solidFill>
            <a:schemeClr val="bg2"/>
          </a:solidFill>
          <a:ln w="12700">
            <a:solidFill>
              <a:schemeClr val="bg2"/>
            </a:solidFill>
            <a:prstDash val="solid"/>
          </a:ln>
        </p:spPr>
      </p:sp>
      <p:sp>
        <p:nvSpPr>
          <p:cNvPr id="5" name="badge 1"/>
          <p:cNvSpPr/>
          <p:nvPr/>
        </p:nvSpPr>
        <p:spPr>
          <a:xfrm>
            <a:off x="731520" y="1444752"/>
            <a:ext cx="384048" cy="384048"/>
          </a:xfrm>
          <a:prstGeom prst="ellipse">
            <a:avLst/>
          </a:prstGeom>
          <a:solidFill>
            <a:schemeClr val="accent1"/>
          </a:solidFill>
          <a:ln w="12700">
            <a:solidFill>
              <a:schemeClr val="accent1"/>
            </a:solidFill>
            <a:prstDash val="solid"/>
          </a:ln>
        </p:spPr>
      </p:sp>
      <p:sp>
        <p:nvSpPr>
          <p:cNvPr id="6" name="badge text 1"/>
          <p:cNvSpPr txBox="1"/>
          <p:nvPr/>
        </p:nvSpPr>
        <p:spPr>
          <a:xfrm>
            <a:off x="731520" y="1444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 title What"/>
          <p:cNvSpPr txBox="1"/>
          <p:nvPr/>
        </p:nvSpPr>
        <p:spPr>
          <a:xfrm>
            <a:off x="1207008" y="1426464"/>
            <a:ext cx="2743200" cy="420624"/>
          </a:xfrm>
          <a:prstGeom prst="rect">
            <a:avLst/>
          </a:prstGeom>
          <a:noFill/>
          <a:ln/>
        </p:spPr>
        <p:txBody>
          <a:bodyPr wrap="square" lIns="0" tIns="0" rIns="0" bIns="0" rtlCol="0" anchor="ctr"/>
          <a:lstStyle/>
          <a:p>
            <a:pPr indent="0" marL="0">
              <a:buNone/>
            </a:pPr>
            <a:r>
              <a:rPr lang="en-US" sz="1600" b="1" dirty="0">
                <a:solidFill>
                  <a:schemeClr val="tx1"/>
                </a:solidFill>
              </a:rPr>
              <a:t>What</a:t>
            </a:r>
            <a:endParaRPr lang="en-US" sz="1600" dirty="0"/>
          </a:p>
        </p:txBody>
      </p:sp>
      <p:sp>
        <p:nvSpPr>
          <p:cNvPr id="8" name="card body What"/>
          <p:cNvSpPr txBox="1"/>
          <p:nvPr/>
        </p:nvSpPr>
        <p:spPr>
          <a:xfrm>
            <a:off x="749808" y="1965960"/>
            <a:ext cx="3163824" cy="15544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_AbsorbIntoSwaps moves one two-qubit gate (or a CX-D-CX block) next to a routing SWAP on the same pair, so later synthesis compiles both as one block. SWAP + CX becomes 2 CX instead of 4.</a:t>
            </a:r>
            <a:endParaRPr lang="en-US" sz="1300" dirty="0"/>
          </a:p>
        </p:txBody>
      </p:sp>
      <p:sp>
        <p:nvSpPr>
          <p:cNvPr id="9" name="card Where"/>
          <p:cNvSpPr/>
          <p:nvPr/>
        </p:nvSpPr>
        <p:spPr>
          <a:xfrm>
            <a:off x="4315968" y="1280160"/>
            <a:ext cx="3566160" cy="2331720"/>
          </a:xfrm>
          <a:prstGeom prst="roundRect">
            <a:avLst>
              <a:gd name="adj" fmla="val 4706"/>
            </a:avLst>
          </a:prstGeom>
          <a:solidFill>
            <a:schemeClr val="bg2"/>
          </a:solidFill>
          <a:ln w="12700">
            <a:solidFill>
              <a:schemeClr val="bg2"/>
            </a:solidFill>
            <a:prstDash val="solid"/>
          </a:ln>
        </p:spPr>
      </p:sp>
      <p:sp>
        <p:nvSpPr>
          <p:cNvPr id="10" name="badge 2"/>
          <p:cNvSpPr/>
          <p:nvPr/>
        </p:nvSpPr>
        <p:spPr>
          <a:xfrm>
            <a:off x="4498848" y="1444752"/>
            <a:ext cx="384048" cy="384048"/>
          </a:xfrm>
          <a:prstGeom prst="ellipse">
            <a:avLst/>
          </a:prstGeom>
          <a:solidFill>
            <a:schemeClr val="accent1"/>
          </a:solidFill>
          <a:ln w="12700">
            <a:solidFill>
              <a:schemeClr val="accent1"/>
            </a:solidFill>
            <a:prstDash val="solid"/>
          </a:ln>
        </p:spPr>
      </p:sp>
      <p:sp>
        <p:nvSpPr>
          <p:cNvPr id="11" name="badge text 2"/>
          <p:cNvSpPr txBox="1"/>
          <p:nvPr/>
        </p:nvSpPr>
        <p:spPr>
          <a:xfrm>
            <a:off x="4498848" y="1444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rd title Where"/>
          <p:cNvSpPr txBox="1"/>
          <p:nvPr/>
        </p:nvSpPr>
        <p:spPr>
          <a:xfrm>
            <a:off x="4974336" y="1426464"/>
            <a:ext cx="2743200" cy="420624"/>
          </a:xfrm>
          <a:prstGeom prst="rect">
            <a:avLst/>
          </a:prstGeom>
          <a:noFill/>
          <a:ln/>
        </p:spPr>
        <p:txBody>
          <a:bodyPr wrap="square" lIns="0" tIns="0" rIns="0" bIns="0" rtlCol="0" anchor="ctr"/>
          <a:lstStyle/>
          <a:p>
            <a:pPr indent="0" marL="0">
              <a:buNone/>
            </a:pPr>
            <a:r>
              <a:rPr lang="en-US" sz="1600" b="1" dirty="0">
                <a:solidFill>
                  <a:schemeClr val="tx1"/>
                </a:solidFill>
              </a:rPr>
              <a:t>Where</a:t>
            </a:r>
            <a:endParaRPr lang="en-US" sz="1600" dirty="0"/>
          </a:p>
        </p:txBody>
      </p:sp>
      <p:sp>
        <p:nvSpPr>
          <p:cNvPr id="13" name="card body Where"/>
          <p:cNvSpPr txBox="1"/>
          <p:nvPr/>
        </p:nvSpPr>
        <p:spPr>
          <a:xfrm>
            <a:off x="4517136" y="1965960"/>
            <a:ext cx="3163824" cy="15544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First pass of the translation stage at optimization levels 2 and 3. Plans with _find_moves in four stages (_index_nodes, _group_nodes, _index_unit_wires, _select_moves), rewrites with _apply_moves, never crosses a SWAP, never enters control flow.</a:t>
            </a:r>
            <a:endParaRPr lang="en-US" sz="1300" dirty="0"/>
          </a:p>
        </p:txBody>
      </p:sp>
      <p:sp>
        <p:nvSpPr>
          <p:cNvPr id="14" name="card Why it is safe"/>
          <p:cNvSpPr/>
          <p:nvPr/>
        </p:nvSpPr>
        <p:spPr>
          <a:xfrm>
            <a:off x="8083296" y="1280160"/>
            <a:ext cx="3566160" cy="2331720"/>
          </a:xfrm>
          <a:prstGeom prst="roundRect">
            <a:avLst>
              <a:gd name="adj" fmla="val 4706"/>
            </a:avLst>
          </a:prstGeom>
          <a:solidFill>
            <a:schemeClr val="bg2"/>
          </a:solidFill>
          <a:ln w="12700">
            <a:solidFill>
              <a:schemeClr val="bg2"/>
            </a:solidFill>
            <a:prstDash val="solid"/>
          </a:ln>
        </p:spPr>
      </p:sp>
      <p:sp>
        <p:nvSpPr>
          <p:cNvPr id="15" name="badge 3"/>
          <p:cNvSpPr/>
          <p:nvPr/>
        </p:nvSpPr>
        <p:spPr>
          <a:xfrm>
            <a:off x="8266176" y="1444752"/>
            <a:ext cx="384048" cy="384048"/>
          </a:xfrm>
          <a:prstGeom prst="ellipse">
            <a:avLst/>
          </a:prstGeom>
          <a:solidFill>
            <a:schemeClr val="accent1"/>
          </a:solidFill>
          <a:ln w="12700">
            <a:solidFill>
              <a:schemeClr val="accent1"/>
            </a:solidFill>
            <a:prstDash val="solid"/>
          </a:ln>
        </p:spPr>
      </p:sp>
      <p:sp>
        <p:nvSpPr>
          <p:cNvPr id="16" name="badge text 3"/>
          <p:cNvSpPr txBox="1"/>
          <p:nvPr/>
        </p:nvSpPr>
        <p:spPr>
          <a:xfrm>
            <a:off x="8266176" y="1444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ard title Why it is safe"/>
          <p:cNvSpPr txBox="1"/>
          <p:nvPr/>
        </p:nvSpPr>
        <p:spPr>
          <a:xfrm>
            <a:off x="8741664" y="1426464"/>
            <a:ext cx="2743200" cy="420624"/>
          </a:xfrm>
          <a:prstGeom prst="rect">
            <a:avLst/>
          </a:prstGeom>
          <a:noFill/>
          <a:ln/>
        </p:spPr>
        <p:txBody>
          <a:bodyPr wrap="square" lIns="0" tIns="0" rIns="0" bIns="0" rtlCol="0" anchor="ctr"/>
          <a:lstStyle/>
          <a:p>
            <a:pPr indent="0" marL="0">
              <a:buNone/>
            </a:pPr>
            <a:r>
              <a:rPr lang="en-US" sz="1600" b="1" dirty="0">
                <a:solidFill>
                  <a:schemeClr val="tx1"/>
                </a:solidFill>
              </a:rPr>
              <a:t>Why it is safe</a:t>
            </a:r>
            <a:endParaRPr lang="en-US" sz="1600" dirty="0"/>
          </a:p>
        </p:txBody>
      </p:sp>
      <p:sp>
        <p:nvSpPr>
          <p:cNvPr id="18" name="card body Why it is safe"/>
          <p:cNvSpPr txBox="1"/>
          <p:nvPr/>
        </p:nvSpPr>
        <p:spPr>
          <a:xfrm>
            <a:off x="8284464" y="1965960"/>
            <a:ext cx="3163824" cy="15544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One Pauli letter per wire. Equal letters on every shared wire give exact commutation, global phase included. 27 standard families, diagonal unitaries, the CX-D-CX block.</a:t>
            </a:r>
            <a:endParaRPr lang="en-US" sz="1300" dirty="0"/>
          </a:p>
        </p:txBody>
      </p:sp>
      <p:sp>
        <p:nvSpPr>
          <p:cNvPr id="19" name="card What changed in the checker"/>
          <p:cNvSpPr/>
          <p:nvPr/>
        </p:nvSpPr>
        <p:spPr>
          <a:xfrm>
            <a:off x="548640" y="3794760"/>
            <a:ext cx="5394960" cy="2331720"/>
          </a:xfrm>
          <a:prstGeom prst="roundRect">
            <a:avLst>
              <a:gd name="adj" fmla="val 4706"/>
            </a:avLst>
          </a:prstGeom>
          <a:solidFill>
            <a:schemeClr val="bg2"/>
          </a:solidFill>
          <a:ln w="12700">
            <a:solidFill>
              <a:schemeClr val="bg2"/>
            </a:solidFill>
            <a:prstDash val="solid"/>
          </a:ln>
        </p:spPr>
      </p:sp>
      <p:sp>
        <p:nvSpPr>
          <p:cNvPr id="20" name="badge 4"/>
          <p:cNvSpPr/>
          <p:nvPr/>
        </p:nvSpPr>
        <p:spPr>
          <a:xfrm>
            <a:off x="731520" y="3959352"/>
            <a:ext cx="384048" cy="384048"/>
          </a:xfrm>
          <a:prstGeom prst="ellipse">
            <a:avLst/>
          </a:prstGeom>
          <a:solidFill>
            <a:schemeClr val="accent1"/>
          </a:solidFill>
          <a:ln w="12700">
            <a:solidFill>
              <a:schemeClr val="accent1"/>
            </a:solidFill>
            <a:prstDash val="solid"/>
          </a:ln>
        </p:spPr>
      </p:sp>
      <p:sp>
        <p:nvSpPr>
          <p:cNvPr id="21" name="badge text 4"/>
          <p:cNvSpPr txBox="1"/>
          <p:nvPr/>
        </p:nvSpPr>
        <p:spPr>
          <a:xfrm>
            <a:off x="731520" y="39593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card title What changed in the checker"/>
          <p:cNvSpPr txBox="1"/>
          <p:nvPr/>
        </p:nvSpPr>
        <p:spPr>
          <a:xfrm>
            <a:off x="1207008" y="3941064"/>
            <a:ext cx="4572000" cy="420624"/>
          </a:xfrm>
          <a:prstGeom prst="rect">
            <a:avLst/>
          </a:prstGeom>
          <a:noFill/>
          <a:ln/>
        </p:spPr>
        <p:txBody>
          <a:bodyPr wrap="square" lIns="0" tIns="0" rIns="0" bIns="0" rtlCol="0" anchor="ctr"/>
          <a:lstStyle/>
          <a:p>
            <a:pPr indent="0" marL="0">
              <a:buNone/>
            </a:pPr>
            <a:r>
              <a:rPr lang="en-US" sz="1600" b="1" dirty="0">
                <a:solidFill>
                  <a:schemeClr val="tx1"/>
                </a:solidFill>
              </a:rPr>
              <a:t>What changed in the checker</a:t>
            </a:r>
            <a:endParaRPr lang="en-US" sz="1600" dirty="0"/>
          </a:p>
        </p:txBody>
      </p:sp>
      <p:sp>
        <p:nvSpPr>
          <p:cNvPr id="23" name="card body What changed in the checker"/>
          <p:cNvSpPr txBox="1"/>
          <p:nvPr/>
        </p:nvSpPr>
        <p:spPr>
          <a:xfrm>
            <a:off x="749808" y="4480560"/>
            <a:ext cx="4992624" cy="15544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check_commutation_entries used to raise AttributeError. A new Rust binding validates, canonicalizes and reads the configured table, returning True, False or None. The swap pass derives its letters from it through parameter-free representatives, once per gate kind per run.</a:t>
            </a:r>
            <a:endParaRPr lang="en-US" sz="1300" dirty="0"/>
          </a:p>
        </p:txBody>
      </p:sp>
      <p:sp>
        <p:nvSpPr>
          <p:cNvPr id="24" name="card Known limits"/>
          <p:cNvSpPr/>
          <p:nvPr/>
        </p:nvSpPr>
        <p:spPr>
          <a:xfrm>
            <a:off x="6245352" y="3794760"/>
            <a:ext cx="5394960" cy="2331720"/>
          </a:xfrm>
          <a:prstGeom prst="roundRect">
            <a:avLst>
              <a:gd name="adj" fmla="val 4706"/>
            </a:avLst>
          </a:prstGeom>
          <a:solidFill>
            <a:schemeClr val="bg2"/>
          </a:solidFill>
          <a:ln w="12700">
            <a:solidFill>
              <a:schemeClr val="bg2"/>
            </a:solidFill>
            <a:prstDash val="solid"/>
          </a:ln>
        </p:spPr>
      </p:sp>
      <p:sp>
        <p:nvSpPr>
          <p:cNvPr id="25" name="badge 5"/>
          <p:cNvSpPr/>
          <p:nvPr/>
        </p:nvSpPr>
        <p:spPr>
          <a:xfrm>
            <a:off x="6428232" y="3959352"/>
            <a:ext cx="384048" cy="384048"/>
          </a:xfrm>
          <a:prstGeom prst="ellipse">
            <a:avLst/>
          </a:prstGeom>
          <a:solidFill>
            <a:schemeClr val="accent1"/>
          </a:solidFill>
          <a:ln w="12700">
            <a:solidFill>
              <a:schemeClr val="accent1"/>
            </a:solidFill>
            <a:prstDash val="solid"/>
          </a:ln>
        </p:spPr>
      </p:sp>
      <p:sp>
        <p:nvSpPr>
          <p:cNvPr id="26" name="badge text 5"/>
          <p:cNvSpPr txBox="1"/>
          <p:nvPr/>
        </p:nvSpPr>
        <p:spPr>
          <a:xfrm>
            <a:off x="6428232" y="39593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card title Known limits"/>
          <p:cNvSpPr txBox="1"/>
          <p:nvPr/>
        </p:nvSpPr>
        <p:spPr>
          <a:xfrm>
            <a:off x="6903720" y="3941064"/>
            <a:ext cx="4572000" cy="420624"/>
          </a:xfrm>
          <a:prstGeom prst="rect">
            <a:avLst/>
          </a:prstGeom>
          <a:noFill/>
          <a:ln/>
        </p:spPr>
        <p:txBody>
          <a:bodyPr wrap="square" lIns="0" tIns="0" rIns="0" bIns="0" rtlCol="0" anchor="ctr"/>
          <a:lstStyle/>
          <a:p>
            <a:pPr indent="0" marL="0">
              <a:buNone/>
            </a:pPr>
            <a:r>
              <a:rPr lang="en-US" sz="1600" b="1" dirty="0">
                <a:solidFill>
                  <a:schemeClr val="tx1"/>
                </a:solidFill>
              </a:rPr>
              <a:t>Known limits</a:t>
            </a:r>
            <a:endParaRPr lang="en-US" sz="1600" dirty="0"/>
          </a:p>
        </p:txBody>
      </p:sp>
      <p:sp>
        <p:nvSpPr>
          <p:cNvPr id="28" name="card body Known limits"/>
          <p:cNvSpPr txBox="1"/>
          <p:nvPr/>
        </p:nvSpPr>
        <p:spPr>
          <a:xfrm>
            <a:off x="6446520" y="4480560"/>
            <a:ext cx="4992624" cy="155448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Greedy, one new partner per SWAP, no global search. Some commuting pairs (RXX vs RYY) are refused. Angles never inspected, so RY(0) still blocks. No guarantee a chosen move reduces gate count; the scheduling guard only avoids the obvious losses.</a:t>
            </a:r>
            <a:endParaRPr lang="en-US" sz="13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94415" cy="1005840"/>
          </a:xfrm>
          <a:prstGeom prst="rect">
            <a:avLst/>
          </a:prstGeom>
          <a:noFill/>
          <a:ln/>
        </p:spPr>
        <p:txBody>
          <a:bodyPr wrap="square" lIns="0" tIns="0" rIns="0" bIns="0" rtlCol="0"/>
          <a:lstStyle/>
          <a:p>
            <a:pPr algn="l" indent="0" marL="0">
              <a:buNone/>
            </a:pPr>
            <a:r>
              <a:rPr lang="en-US" sz="3800" b="1" dirty="0">
                <a:solidFill>
                  <a:schemeClr val="bg1"/>
                </a:solidFill>
              </a:rPr>
              <a:t>Where to look next</a:t>
            </a:r>
            <a:endParaRPr lang="en-US" sz="3800" dirty="0"/>
          </a:p>
        </p:txBody>
      </p:sp>
      <p:sp>
        <p:nvSpPr>
          <p:cNvPr id="3" name="Text 0"/>
          <p:cNvSpPr/>
          <p:nvPr>
            <p:ph idx="101" type="body" hasCustomPrompt="1"/>
          </p:nvPr>
        </p:nvSpPr>
        <p:spPr>
          <a:xfrm>
            <a:off x="548640" y="1737360"/>
            <a:ext cx="11094415" cy="4206240"/>
          </a:xfrm>
          <a:prstGeom prst="rect">
            <a:avLst/>
          </a:prstGeom>
          <a:noFill/>
          <a:ln/>
        </p:spPr>
        <p:txBody>
          <a:bodyPr wrap="square" lIns="0" tIns="0" rIns="0" bIns="0" rtlCol="0" anchor="t"/>
          <a:lstStyle/>
          <a:p>
            <a:pPr algn="l" indent="0" marL="0">
              <a:buNone/>
            </a:pPr>
            <a:r>
              <a:rPr lang="en-US" sz="1500" b="1" dirty="0">
                <a:solidFill>
                  <a:schemeClr val="accent2"/>
                </a:solidFill>
              </a:rPr>
              <a:t>Source</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qiskit/transpiler/preset_passmanagers/_swap_absorption.py</a:t>
            </a:r>
            <a:pPr algn="l" indent="0" marL="0">
              <a:buNone/>
            </a:pPr>
            <a:r>
              <a:rPr lang="en-US" sz="1500" dirty="0">
                <a:solidFill>
                  <a:schemeClr val="bg1"/>
                </a:solidFill>
              </a:rPr>
              <a:t>  the pass itself, about 510 lines after the readability refactor</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qiskit/transpiler/preset_passmanagers/common.py</a:t>
            </a:r>
            <a:pPr algn="l" indent="0" marL="0">
              <a:buNone/>
            </a:pPr>
            <a:r>
              <a:rPr lang="en-US" sz="1500" dirty="0">
                <a:solidFill>
                  <a:schemeClr val="bg1"/>
                </a:solidFill>
              </a:rPr>
              <a:t>  generate_translation_passmanager() adds the pass at levels 2 and 3</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qiskit/circuit/commutation_checker.py</a:t>
            </a:r>
            <a:pPr algn="l" indent="0" marL="0">
              <a:buNone/>
            </a:pPr>
            <a:r>
              <a:rPr lang="en-US" sz="1500" dirty="0">
                <a:solidFill>
                  <a:schemeClr val="bg1"/>
                </a:solidFill>
              </a:rPr>
              <a:t>  the Python wrapper and its documented contract</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crates/transpiler/src/commutation_checker.rs</a:t>
            </a:r>
            <a:pPr algn="l" indent="0" marL="0">
              <a:buNone/>
            </a:pPr>
            <a:r>
              <a:rPr lang="en-US" sz="1500" dirty="0">
                <a:solidFill>
                  <a:schemeClr val="bg1"/>
                </a:solidFill>
              </a:rPr>
              <a:t>  the Rust binding check_commutation_entries</a:t>
            </a:r>
            <a:endParaRPr lang="en-US" sz="1500" dirty="0"/>
          </a:p>
          <a:p>
            <a:pPr algn="l" indent="0" marL="0">
              <a:buNone/>
            </a:pPr>
            <a:r>
              <a:rPr lang="en-US" sz="1500" dirty="0">
                <a:solidFill>
                  <a:schemeClr val="bg1"/>
                </a:solidFill>
              </a:rPr>
              <a:t> </a:t>
            </a:r>
            <a:endParaRPr lang="en-US" sz="1500" dirty="0"/>
          </a:p>
          <a:p>
            <a:pPr algn="l" indent="0" marL="0">
              <a:buNone/>
            </a:pPr>
            <a:r>
              <a:rPr lang="en-US" sz="1500" b="1" dirty="0">
                <a:solidFill>
                  <a:schemeClr val="accent2"/>
                </a:solidFill>
              </a:rPr>
              <a:t>Tests and notes</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test/python/transpiler/test_swap_absorption.py</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test/python/circuit/test_commutation_checker.py</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design/swap_absorption_implementation_guide.md</a:t>
            </a:r>
            <a:pPr algn="l" indent="0" marL="0">
              <a:buNone/>
            </a:pPr>
            <a:r>
              <a:rPr lang="en-US" sz="1500" dirty="0">
                <a:solidFill>
                  <a:schemeClr val="bg1"/>
                </a:solidFill>
              </a:rPr>
              <a:t>  the same material in prose</a:t>
            </a:r>
            <a:endParaRPr lang="en-US" sz="15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design/old/Swap_Absorption_CommutationChecker_Plan.md</a:t>
            </a:r>
            <a:pPr algn="l" indent="0" marL="0">
              <a:buNone/>
            </a:pPr>
            <a:r>
              <a:rPr lang="en-US" sz="1500" dirty="0">
                <a:solidFill>
                  <a:schemeClr val="bg1"/>
                </a:solidFill>
              </a:rPr>
              <a:t>  the design plan the change implemented</a:t>
            </a:r>
            <a:endParaRPr lang="en-US" sz="1500" dirty="0"/>
          </a:p>
          <a:p>
            <a:pPr algn="l" indent="0" marL="0">
              <a:buNone/>
            </a:pPr>
            <a:r>
              <a:rPr lang="en-US" sz="1500" dirty="0">
                <a:solidFill>
                  <a:schemeClr val="bg1"/>
                </a:solidFill>
              </a:rPr>
              <a:t> </a:t>
            </a:r>
            <a:endParaRPr lang="en-US" sz="1500" dirty="0"/>
          </a:p>
          <a:p>
            <a:pPr algn="l" indent="0" marL="0">
              <a:buNone/>
            </a:pPr>
            <a:r>
              <a:rPr lang="en-US" sz="1500" b="1" dirty="0">
                <a:solidFill>
                  <a:schemeClr val="accent2"/>
                </a:solidFill>
              </a:rPr>
              <a:t>Background reading</a:t>
            </a:r>
            <a:endParaRPr lang="en-US" sz="1500" dirty="0"/>
          </a:p>
          <a:p>
            <a:pPr algn="l" indent="0" marL="0">
              <a:buNone/>
            </a:pPr>
            <a:r>
              <a:rPr lang="en-US" sz="1500" dirty="0">
                <a:solidFill>
                  <a:schemeClr val="bg1"/>
                </a:solidFill>
              </a:rPr>
              <a:t>Liu, Li, Zhou. Not All SWAPs Have the Same Cost: A Case for Optimization-Aware Qubit Routing. arXiv:2205.10596</a:t>
            </a:r>
            <a:endParaRPr lang="en-US" sz="1500" dirty="0"/>
          </a:p>
          <a:p>
            <a:pPr algn="l" indent="0" marL="0">
              <a:buNone/>
            </a:pPr>
            <a:r>
              <a:rPr lang="en-US" sz="1500" dirty="0">
                <a:solidFill>
                  <a:schemeClr val="bg1"/>
                </a:solidFill>
              </a:rPr>
              <a:t>Lao, Browne. 2QAN: A quantum compiler for 2-local qubit Hamiltonian simulation algorithms. arXiv:2108.02099</a:t>
            </a:r>
            <a:endParaRPr lang="en-US" sz="1500" dirty="0"/>
          </a:p>
          <a:p>
            <a:pPr algn="l" indent="0" marL="0">
              <a:buNone/>
            </a:pPr>
            <a:r>
              <a:rPr lang="en-US" sz="1500" dirty="0">
                <a:solidFill>
                  <a:schemeClr val="bg1"/>
                </a:solidFill>
              </a:rPr>
              <a:t> </a:t>
            </a:r>
            <a:endParaRPr lang="en-US" sz="1500" dirty="0"/>
          </a:p>
          <a:p>
            <a:pPr algn="l" indent="0" marL="0">
              <a:buNone/>
            </a:pPr>
            <a:r>
              <a:rPr lang="en-US" sz="1200" dirty="0">
                <a:solidFill>
                  <a:schemeClr val="bg2"/>
                </a:solidFill>
              </a:rPr>
              <a:t>Deck rebuilt 26 October 2026 from commit ab28929ff (the _swap_absorption.py readability refactor). Diagrams are SVG files next to this deck.</a:t>
            </a:r>
            <a:endParaRPr lang="en-US" sz="1500" dirty="0"/>
          </a:p>
        </p:txBody>
      </p:sp>
    </p:spTree>
  </p:cSld>
  <p:clrMapOvr>
    <a:masterClrMapping/>
  </p:clrMapOvr>
</p:sld>
</file>

<file path=ppt/theme/theme1.xml><?xml version="1.0" encoding="utf-8"?>
<a:theme xmlns:a="http://schemas.openxmlformats.org/drawingml/2006/main" name="Swap absorption and the commutation checker">
  <a:themeElements>
    <a:clrScheme name="Swap absorption and the commutation checker">
      <a:dk1>
        <a:srgbClr val="1B2430"/>
      </a:dk1>
      <a:lt1>
        <a:srgbClr val="FFFFFF"/>
      </a:lt1>
      <a:dk2>
        <a:srgbClr val="0F3D4A"/>
      </a:dk2>
      <a:lt2>
        <a:srgbClr val="EEF4F5"/>
      </a:lt2>
      <a:accent1>
        <a:srgbClr val="0E8A7D"/>
      </a:accent1>
      <a:accent2>
        <a:srgbClr val="E8A33D"/>
      </a:accent2>
      <a:accent3>
        <a:srgbClr val="3B6FD6"/>
      </a:accent3>
      <a:accent4>
        <a:srgbClr val="C7484A"/>
      </a:accent4>
      <a:accent5>
        <a:srgbClr val="66757F"/>
      </a:accent5>
      <a:accent6>
        <a:srgbClr val="8E55B8"/>
      </a:accent6>
      <a:hlink>
        <a:srgbClr val="0E8A7D"/>
      </a:hlink>
      <a:folHlink>
        <a:srgbClr val="66757F"/>
      </a:folHlink>
    </a:clrScheme>
    <a:fontScheme name="Swap absorption and the commutation check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Swap absorption and the commutation checker</dc:title>
  <dc:subject>PptxGenJS Presentation</dc:subject>
  <dc:creator>Ophir</dc:creator>
  <cp:lastModifiedBy>Ophir</cp:lastModifiedBy>
  <cp:revision>1</cp:revision>
  <dcterms:created xsi:type="dcterms:W3CDTF">2026-10-26T15:45:23Z</dcterms:created>
  <dcterms:modified xsi:type="dcterms:W3CDTF">2026-10-26T15:45:23Z</dcterms:modified>
</cp:coreProperties>
</file>